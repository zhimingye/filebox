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charts/chart13.xml" ContentType="application/vnd.openxmlformats-officedocument.drawingml.chart+xml"/>
  <Override PartName="/ppt/charts/chart14.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Sheet12.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Sheet13.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Sheet1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85</c:v>
                </c:pt>
                <c:pt idx="1">
                  <c:v>45</c:v>
                </c:pt>
                <c:pt idx="2">
                  <c:v>10</c:v>
                </c:pt>
                <c:pt idx="3">
                  <c:v>30</c:v>
                </c:pt>
                <c:pt idx="4">
                  <c:v>99</c:v>
                </c:pt>
                <c:pt idx="5">
                  <c:v>64</c:v>
                </c:pt>
                <c:pt idx="6">
                  <c:v>53</c:v>
                </c:pt>
                <c:pt idx="7">
                  <c:v>45</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29</c:v>
                </c:pt>
                <c:pt idx="1">
                  <c:v>37</c:v>
                </c:pt>
                <c:pt idx="2">
                  <c:v>53</c:v>
                </c:pt>
                <c:pt idx="3">
                  <c:v>23</c:v>
                </c:pt>
                <c:pt idx="4">
                  <c:v>21</c:v>
                </c:pt>
                <c:pt idx="5">
                  <c:v>58</c:v>
                </c:pt>
                <c:pt idx="6">
                  <c:v>22</c:v>
                </c:pt>
                <c:pt idx="7">
                  <c:v>55</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54</c:v>
                </c:pt>
                <c:pt idx="1">
                  <c:v>87</c:v>
                </c:pt>
                <c:pt idx="2">
                  <c:v>43</c:v>
                </c:pt>
                <c:pt idx="3">
                  <c:v>15</c:v>
                </c:pt>
                <c:pt idx="4">
                  <c:v>68</c:v>
                </c:pt>
                <c:pt idx="5">
                  <c:v>78</c:v>
                </c:pt>
                <c:pt idx="6">
                  <c:v>25</c:v>
                </c:pt>
                <c:pt idx="7">
                  <c:v>58</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62</c:v>
                </c:pt>
                <c:pt idx="1">
                  <c:v>69</c:v>
                </c:pt>
                <c:pt idx="2">
                  <c:v>16</c:v>
                </c:pt>
                <c:pt idx="3">
                  <c:v>96</c:v>
                </c:pt>
                <c:pt idx="4">
                  <c:v>93</c:v>
                </c:pt>
                <c:pt idx="5">
                  <c:v>92</c:v>
                </c:pt>
                <c:pt idx="6">
                  <c:v>22</c:v>
                </c:pt>
                <c:pt idx="7">
                  <c:v>17</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61</c:v>
                </c:pt>
                <c:pt idx="1">
                  <c:v>53</c:v>
                </c:pt>
                <c:pt idx="2">
                  <c:v>23</c:v>
                </c:pt>
                <c:pt idx="3">
                  <c:v>41</c:v>
                </c:pt>
                <c:pt idx="4">
                  <c:v>34</c:v>
                </c:pt>
                <c:pt idx="5">
                  <c:v>34</c:v>
                </c:pt>
                <c:pt idx="6">
                  <c:v>78</c:v>
                </c:pt>
                <c:pt idx="7">
                  <c:v>67</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27</c:v>
                </c:pt>
                <c:pt idx="1">
                  <c:v>64</c:v>
                </c:pt>
                <c:pt idx="2">
                  <c:v>33</c:v>
                </c:pt>
                <c:pt idx="3">
                  <c:v>45</c:v>
                </c:pt>
                <c:pt idx="4">
                  <c:v>69</c:v>
                </c:pt>
                <c:pt idx="5">
                  <c:v>41</c:v>
                </c:pt>
                <c:pt idx="6">
                  <c:v>19</c:v>
                </c:pt>
                <c:pt idx="7">
                  <c:v>66</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54</c:v>
                </c:pt>
                <c:pt idx="1">
                  <c:v>92</c:v>
                </c:pt>
                <c:pt idx="2">
                  <c:v>75</c:v>
                </c:pt>
                <c:pt idx="3">
                  <c:v>61</c:v>
                </c:pt>
                <c:pt idx="4">
                  <c:v>96</c:v>
                </c:pt>
                <c:pt idx="5">
                  <c:v>78</c:v>
                </c:pt>
                <c:pt idx="6">
                  <c:v>52</c:v>
                </c:pt>
                <c:pt idx="7">
                  <c:v>13</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24</c:v>
                </c:pt>
                <c:pt idx="1">
                  <c:v>43</c:v>
                </c:pt>
                <c:pt idx="2">
                  <c:v>32</c:v>
                </c:pt>
                <c:pt idx="3">
                  <c:v>84</c:v>
                </c:pt>
                <c:pt idx="4">
                  <c:v>43</c:v>
                </c:pt>
                <c:pt idx="5">
                  <c:v>14</c:v>
                </c:pt>
                <c:pt idx="6">
                  <c:v>23</c:v>
                </c:pt>
                <c:pt idx="7">
                  <c:v>86</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65</c:v>
                </c:pt>
                <c:pt idx="1">
                  <c:v>54</c:v>
                </c:pt>
                <c:pt idx="2">
                  <c:v>50</c:v>
                </c:pt>
                <c:pt idx="3">
                  <c:v>65</c:v>
                </c:pt>
                <c:pt idx="4">
                  <c:v>87</c:v>
                </c:pt>
                <c:pt idx="5">
                  <c:v>75</c:v>
                </c:pt>
                <c:pt idx="6">
                  <c:v>24</c:v>
                </c:pt>
                <c:pt idx="7">
                  <c:v>59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51</c:v>
                </c:pt>
                <c:pt idx="1">
                  <c:v>53</c:v>
                </c:pt>
                <c:pt idx="2">
                  <c:v>58</c:v>
                </c:pt>
                <c:pt idx="3">
                  <c:v>45</c:v>
                </c:pt>
                <c:pt idx="4">
                  <c:v>63</c:v>
                </c:pt>
                <c:pt idx="5">
                  <c:v>42</c:v>
                </c:pt>
                <c:pt idx="6">
                  <c:v>20</c:v>
                </c:pt>
                <c:pt idx="7">
                  <c:v>70</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12</c:v>
                </c:pt>
                <c:pt idx="1">
                  <c:v>79</c:v>
                </c:pt>
                <c:pt idx="2">
                  <c:v>16</c:v>
                </c:pt>
                <c:pt idx="3">
                  <c:v>54</c:v>
                </c:pt>
                <c:pt idx="4">
                  <c:v>38</c:v>
                </c:pt>
                <c:pt idx="5">
                  <c:v>93</c:v>
                </c:pt>
                <c:pt idx="6">
                  <c:v>18</c:v>
                </c:pt>
                <c:pt idx="7">
                  <c:v>93</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15</c:v>
                </c:pt>
                <c:pt idx="1">
                  <c:v>13</c:v>
                </c:pt>
                <c:pt idx="2">
                  <c:v>41</c:v>
                </c:pt>
                <c:pt idx="3">
                  <c:v>35</c:v>
                </c:pt>
                <c:pt idx="4">
                  <c:v>12</c:v>
                </c:pt>
                <c:pt idx="5">
                  <c:v>89</c:v>
                </c:pt>
                <c:pt idx="6">
                  <c:v>29</c:v>
                </c:pt>
                <c:pt idx="7">
                  <c:v>40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66</c:v>
                </c:pt>
                <c:pt idx="1">
                  <c:v>48</c:v>
                </c:pt>
                <c:pt idx="2">
                  <c:v>85</c:v>
                </c:pt>
                <c:pt idx="3">
                  <c:v>64</c:v>
                </c:pt>
                <c:pt idx="4">
                  <c:v>49</c:v>
                </c:pt>
                <c:pt idx="5">
                  <c:v>82</c:v>
                </c:pt>
                <c:pt idx="6">
                  <c:v>89</c:v>
                </c:pt>
                <c:pt idx="7">
                  <c:v>17</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88</c:v>
                </c:pt>
                <c:pt idx="1">
                  <c:v>22</c:v>
                </c:pt>
                <c:pt idx="2">
                  <c:v>36</c:v>
                </c:pt>
                <c:pt idx="3">
                  <c:v>90</c:v>
                </c:pt>
                <c:pt idx="4">
                  <c:v>37</c:v>
                </c:pt>
                <c:pt idx="5">
                  <c:v>43</c:v>
                </c:pt>
                <c:pt idx="6">
                  <c:v>94</c:v>
                </c:pt>
                <c:pt idx="7">
                  <c:v>20</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30</c:v>
                </c:pt>
                <c:pt idx="1">
                  <c:v>40</c:v>
                </c:pt>
                <c:pt idx="2">
                  <c:v>32</c:v>
                </c:pt>
                <c:pt idx="3">
                  <c:v>80</c:v>
                </c:pt>
                <c:pt idx="4">
                  <c:v>19</c:v>
                </c:pt>
                <c:pt idx="5">
                  <c:v>30</c:v>
                </c:pt>
                <c:pt idx="6">
                  <c:v>10</c:v>
                </c:pt>
                <c:pt idx="7">
                  <c:v>62</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77</c:v>
                </c:pt>
                <c:pt idx="1">
                  <c:v>68</c:v>
                </c:pt>
                <c:pt idx="2">
                  <c:v>11</c:v>
                </c:pt>
                <c:pt idx="3">
                  <c:v>28</c:v>
                </c:pt>
                <c:pt idx="4">
                  <c:v>62</c:v>
                </c:pt>
                <c:pt idx="5">
                  <c:v>93</c:v>
                </c:pt>
                <c:pt idx="6">
                  <c:v>29</c:v>
                </c:pt>
                <c:pt idx="7">
                  <c:v>19</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70</c:v>
                </c:pt>
                <c:pt idx="1">
                  <c:v>43</c:v>
                </c:pt>
                <c:pt idx="2">
                  <c:v>53</c:v>
                </c:pt>
                <c:pt idx="3">
                  <c:v>89</c:v>
                </c:pt>
                <c:pt idx="4">
                  <c:v>98</c:v>
                </c:pt>
                <c:pt idx="5">
                  <c:v>60</c:v>
                </c:pt>
                <c:pt idx="6">
                  <c:v>93</c:v>
                </c:pt>
                <c:pt idx="7">
                  <c:v>20</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52</c:v>
                </c:pt>
                <c:pt idx="1">
                  <c:v>96</c:v>
                </c:pt>
                <c:pt idx="2">
                  <c:v>78</c:v>
                </c:pt>
                <c:pt idx="3">
                  <c:v>58</c:v>
                </c:pt>
                <c:pt idx="4">
                  <c:v>50</c:v>
                </c:pt>
                <c:pt idx="5">
                  <c:v>90</c:v>
                </c:pt>
                <c:pt idx="6">
                  <c:v>72</c:v>
                </c:pt>
                <c:pt idx="7">
                  <c:v>79</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79</c:v>
                </c:pt>
                <c:pt idx="1">
                  <c:v>92</c:v>
                </c:pt>
                <c:pt idx="2">
                  <c:v>55</c:v>
                </c:pt>
                <c:pt idx="3">
                  <c:v>17</c:v>
                </c:pt>
                <c:pt idx="4">
                  <c:v>60</c:v>
                </c:pt>
                <c:pt idx="5">
                  <c:v>45</c:v>
                </c:pt>
                <c:pt idx="6">
                  <c:v>34</c:v>
                </c:pt>
                <c:pt idx="7">
                  <c:v>25</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68</c:v>
                </c:pt>
                <c:pt idx="1">
                  <c:v>21</c:v>
                </c:pt>
                <c:pt idx="2">
                  <c:v>94</c:v>
                </c:pt>
                <c:pt idx="3">
                  <c:v>37</c:v>
                </c:pt>
                <c:pt idx="4">
                  <c:v>92</c:v>
                </c:pt>
                <c:pt idx="5">
                  <c:v>91</c:v>
                </c:pt>
                <c:pt idx="6">
                  <c:v>86</c:v>
                </c:pt>
                <c:pt idx="7">
                  <c:v>12</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16</c:v>
                </c:pt>
                <c:pt idx="1">
                  <c:v>52</c:v>
                </c:pt>
                <c:pt idx="2">
                  <c:v>41</c:v>
                </c:pt>
                <c:pt idx="3">
                  <c:v>26</c:v>
                </c:pt>
                <c:pt idx="4">
                  <c:v>82</c:v>
                </c:pt>
                <c:pt idx="5">
                  <c:v>36</c:v>
                </c:pt>
                <c:pt idx="6">
                  <c:v>18</c:v>
                </c:pt>
                <c:pt idx="7">
                  <c:v>80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65</c:v>
                </c:pt>
                <c:pt idx="1">
                  <c:v>24</c:v>
                </c:pt>
                <c:pt idx="2">
                  <c:v>46</c:v>
                </c:pt>
                <c:pt idx="3">
                  <c:v>96</c:v>
                </c:pt>
                <c:pt idx="4">
                  <c:v>96</c:v>
                </c:pt>
                <c:pt idx="5">
                  <c:v>85</c:v>
                </c:pt>
                <c:pt idx="6">
                  <c:v>72</c:v>
                </c:pt>
                <c:pt idx="7">
                  <c:v>77</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95</c:v>
                </c:pt>
                <c:pt idx="1">
                  <c:v>49</c:v>
                </c:pt>
                <c:pt idx="2">
                  <c:v>15</c:v>
                </c:pt>
                <c:pt idx="3">
                  <c:v>38</c:v>
                </c:pt>
                <c:pt idx="4">
                  <c:v>60</c:v>
                </c:pt>
                <c:pt idx="5">
                  <c:v>86</c:v>
                </c:pt>
                <c:pt idx="6">
                  <c:v>17</c:v>
                </c:pt>
                <c:pt idx="7">
                  <c:v>10</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36</c:v>
                </c:pt>
                <c:pt idx="1">
                  <c:v>48</c:v>
                </c:pt>
                <c:pt idx="2">
                  <c:v>37</c:v>
                </c:pt>
                <c:pt idx="3">
                  <c:v>27</c:v>
                </c:pt>
                <c:pt idx="4">
                  <c:v>42</c:v>
                </c:pt>
                <c:pt idx="5">
                  <c:v>47</c:v>
                </c:pt>
                <c:pt idx="6">
                  <c:v>51</c:v>
                </c:pt>
                <c:pt idx="7">
                  <c:v>25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47</c:v>
                </c:pt>
                <c:pt idx="1">
                  <c:v>22</c:v>
                </c:pt>
                <c:pt idx="2">
                  <c:v>74</c:v>
                </c:pt>
                <c:pt idx="3">
                  <c:v>79</c:v>
                </c:pt>
                <c:pt idx="4">
                  <c:v>77</c:v>
                </c:pt>
                <c:pt idx="5">
                  <c:v>14</c:v>
                </c:pt>
                <c:pt idx="6">
                  <c:v>94</c:v>
                </c:pt>
                <c:pt idx="7">
                  <c:v>53</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89</c:v>
                </c:pt>
                <c:pt idx="1">
                  <c:v>26</c:v>
                </c:pt>
                <c:pt idx="2">
                  <c:v>86</c:v>
                </c:pt>
                <c:pt idx="3">
                  <c:v>58</c:v>
                </c:pt>
                <c:pt idx="4">
                  <c:v>29</c:v>
                </c:pt>
                <c:pt idx="5">
                  <c:v>30</c:v>
                </c:pt>
                <c:pt idx="6">
                  <c:v>33</c:v>
                </c:pt>
                <c:pt idx="7">
                  <c:v>98</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89</c:v>
                </c:pt>
                <c:pt idx="1">
                  <c:v>31</c:v>
                </c:pt>
                <c:pt idx="2">
                  <c:v>66</c:v>
                </c:pt>
                <c:pt idx="3">
                  <c:v>15</c:v>
                </c:pt>
                <c:pt idx="4">
                  <c:v>62</c:v>
                </c:pt>
                <c:pt idx="5">
                  <c:v>56</c:v>
                </c:pt>
                <c:pt idx="6">
                  <c:v>96</c:v>
                </c:pt>
                <c:pt idx="7">
                  <c:v>40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20</c:v>
                </c:pt>
                <c:pt idx="1">
                  <c:v>51</c:v>
                </c:pt>
                <c:pt idx="2">
                  <c:v>94</c:v>
                </c:pt>
                <c:pt idx="3">
                  <c:v>47</c:v>
                </c:pt>
                <c:pt idx="4">
                  <c:v>49</c:v>
                </c:pt>
                <c:pt idx="5">
                  <c:v>67</c:v>
                </c:pt>
                <c:pt idx="6">
                  <c:v>87</c:v>
                </c:pt>
                <c:pt idx="7">
                  <c:v>64</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31</c:v>
                </c:pt>
                <c:pt idx="1">
                  <c:v>98</c:v>
                </c:pt>
                <c:pt idx="2">
                  <c:v>66</c:v>
                </c:pt>
                <c:pt idx="3">
                  <c:v>54</c:v>
                </c:pt>
                <c:pt idx="4">
                  <c:v>67</c:v>
                </c:pt>
                <c:pt idx="5">
                  <c:v>15</c:v>
                </c:pt>
                <c:pt idx="6">
                  <c:v>55</c:v>
                </c:pt>
                <c:pt idx="7">
                  <c:v>88</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65</c:v>
                </c:pt>
                <c:pt idx="1">
                  <c:v>45</c:v>
                </c:pt>
                <c:pt idx="2">
                  <c:v>91</c:v>
                </c:pt>
                <c:pt idx="3">
                  <c:v>17</c:v>
                </c:pt>
                <c:pt idx="4">
                  <c:v>19</c:v>
                </c:pt>
                <c:pt idx="5">
                  <c:v>95</c:v>
                </c:pt>
                <c:pt idx="6">
                  <c:v>91</c:v>
                </c:pt>
                <c:pt idx="7">
                  <c:v>61</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40</c:v>
                </c:pt>
                <c:pt idx="1">
                  <c:v>69</c:v>
                </c:pt>
                <c:pt idx="2">
                  <c:v>25</c:v>
                </c:pt>
                <c:pt idx="3">
                  <c:v>44</c:v>
                </c:pt>
                <c:pt idx="4">
                  <c:v>67</c:v>
                </c:pt>
                <c:pt idx="5">
                  <c:v>41</c:v>
                </c:pt>
                <c:pt idx="6">
                  <c:v>28</c:v>
                </c:pt>
                <c:pt idx="7">
                  <c:v>22</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16</c:v>
                </c:pt>
                <c:pt idx="1">
                  <c:v>47</c:v>
                </c:pt>
                <c:pt idx="2">
                  <c:v>59</c:v>
                </c:pt>
                <c:pt idx="3">
                  <c:v>88</c:v>
                </c:pt>
                <c:pt idx="4">
                  <c:v>63</c:v>
                </c:pt>
                <c:pt idx="5">
                  <c:v>41</c:v>
                </c:pt>
                <c:pt idx="6">
                  <c:v>30</c:v>
                </c:pt>
                <c:pt idx="7">
                  <c:v>51</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83</c:v>
                </c:pt>
                <c:pt idx="1">
                  <c:v>50</c:v>
                </c:pt>
                <c:pt idx="2">
                  <c:v>34</c:v>
                </c:pt>
                <c:pt idx="3">
                  <c:v>30</c:v>
                </c:pt>
                <c:pt idx="4">
                  <c:v>73</c:v>
                </c:pt>
                <c:pt idx="5">
                  <c:v>75</c:v>
                </c:pt>
                <c:pt idx="6">
                  <c:v>69</c:v>
                </c:pt>
                <c:pt idx="7">
                  <c:v>73</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41</c:v>
                </c:pt>
                <c:pt idx="1">
                  <c:v>16</c:v>
                </c:pt>
                <c:pt idx="2">
                  <c:v>95</c:v>
                </c:pt>
                <c:pt idx="3">
                  <c:v>77</c:v>
                </c:pt>
                <c:pt idx="4">
                  <c:v>38</c:v>
                </c:pt>
                <c:pt idx="5">
                  <c:v>91</c:v>
                </c:pt>
                <c:pt idx="6">
                  <c:v>39</c:v>
                </c:pt>
                <c:pt idx="7">
                  <c:v>16</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22</c:v>
                </c:pt>
                <c:pt idx="1">
                  <c:v>62</c:v>
                </c:pt>
                <c:pt idx="2">
                  <c:v>52</c:v>
                </c:pt>
                <c:pt idx="3">
                  <c:v>70</c:v>
                </c:pt>
                <c:pt idx="4">
                  <c:v>22</c:v>
                </c:pt>
                <c:pt idx="5">
                  <c:v>97</c:v>
                </c:pt>
                <c:pt idx="6">
                  <c:v>27</c:v>
                </c:pt>
                <c:pt idx="7">
                  <c:v>10</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80</c:v>
                </c:pt>
                <c:pt idx="1">
                  <c:v>30</c:v>
                </c:pt>
                <c:pt idx="2">
                  <c:v>62</c:v>
                </c:pt>
                <c:pt idx="3">
                  <c:v>93</c:v>
                </c:pt>
                <c:pt idx="4">
                  <c:v>70</c:v>
                </c:pt>
                <c:pt idx="5">
                  <c:v>71</c:v>
                </c:pt>
                <c:pt idx="6">
                  <c:v>93</c:v>
                </c:pt>
                <c:pt idx="7">
                  <c:v>35</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41</c:v>
                </c:pt>
                <c:pt idx="1">
                  <c:v>68</c:v>
                </c:pt>
                <c:pt idx="2">
                  <c:v>54</c:v>
                </c:pt>
                <c:pt idx="3">
                  <c:v>29</c:v>
                </c:pt>
                <c:pt idx="4">
                  <c:v>45</c:v>
                </c:pt>
                <c:pt idx="5">
                  <c:v>34</c:v>
                </c:pt>
                <c:pt idx="6">
                  <c:v>24</c:v>
                </c:pt>
                <c:pt idx="7">
                  <c:v>14</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94</c:v>
                </c:pt>
                <c:pt idx="1">
                  <c:v>63</c:v>
                </c:pt>
                <c:pt idx="2">
                  <c:v>88</c:v>
                </c:pt>
                <c:pt idx="3">
                  <c:v>12</c:v>
                </c:pt>
                <c:pt idx="4">
                  <c:v>40</c:v>
                </c:pt>
                <c:pt idx="5">
                  <c:v>36</c:v>
                </c:pt>
                <c:pt idx="6">
                  <c:v>18</c:v>
                </c:pt>
                <c:pt idx="7">
                  <c:v>22</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86</c:v>
                </c:pt>
                <c:pt idx="1">
                  <c:v>14</c:v>
                </c:pt>
                <c:pt idx="2">
                  <c:v>67</c:v>
                </c:pt>
                <c:pt idx="3">
                  <c:v>86</c:v>
                </c:pt>
                <c:pt idx="4">
                  <c:v>96</c:v>
                </c:pt>
                <c:pt idx="5">
                  <c:v>100</c:v>
                </c:pt>
                <c:pt idx="6">
                  <c:v>16</c:v>
                </c:pt>
                <c:pt idx="7">
                  <c:v>41</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Series 1</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Sheet1!$B$2:$B$9</c:f>
              <c:numCache>
                <c:formatCode>General</c:formatCode>
                <c:ptCount val="8"/>
                <c:pt idx="0">
                  <c:v>89</c:v>
                </c:pt>
                <c:pt idx="1">
                  <c:v>77</c:v>
                </c:pt>
                <c:pt idx="2">
                  <c:v>42</c:v>
                </c:pt>
                <c:pt idx="3">
                  <c:v>55</c:v>
                </c:pt>
                <c:pt idx="4">
                  <c:v>44</c:v>
                </c:pt>
                <c:pt idx="5">
                  <c:v>60</c:v>
                </c:pt>
                <c:pt idx="6">
                  <c:v>20</c:v>
                </c:pt>
                <c:pt idx="7">
                  <c:v>57</c:v>
                </c:pt>
              </c:numCache>
            </c:numRef>
          </c:val>
        </c:ser>
        <c:ser>
          <c:idx val="1"/>
          <c:order val="1"/>
          <c:tx>
            <c:strRef>
              <c:f>Sheet1!$C$1</c:f>
              <c:strCache>
                <c:ptCount val="1"/>
                <c:pt idx="0">
                  <c:v>Series 2</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Sheet1!$C$2:$C$9</c:f>
              <c:numCache>
                <c:formatCode>General</c:formatCode>
                <c:ptCount val="8"/>
                <c:pt idx="0">
                  <c:v>61</c:v>
                </c:pt>
                <c:pt idx="1">
                  <c:v>68</c:v>
                </c:pt>
                <c:pt idx="2">
                  <c:v>82</c:v>
                </c:pt>
                <c:pt idx="3">
                  <c:v>41</c:v>
                </c:pt>
                <c:pt idx="4">
                  <c:v>99</c:v>
                </c:pt>
                <c:pt idx="5">
                  <c:v>38</c:v>
                </c:pt>
                <c:pt idx="6">
                  <c:v>48</c:v>
                </c:pt>
                <c:pt idx="7">
                  <c:v>97</c:v>
                </c:pt>
              </c:numCache>
            </c:numRef>
          </c:val>
        </c:ser>
        <c:ser>
          <c:idx val="2"/>
          <c:order val="2"/>
          <c:tx>
            <c:strRef>
              <c:f>Sheet1!$D$1</c:f>
              <c:strCache>
                <c:ptCount val="1"/>
                <c:pt idx="0">
                  <c:v>Series 3</c:v>
                </c:pt>
              </c:strCache>
            </c:strRef>
          </c:tx>
          <c:cat>
            <c:strRef>
              <c:f>Sheet1!$A$2:$A$9</c:f>
              <c:strCache>
                <c:ptCount val="8"/>
                <c:pt idx="0">
                  <c:v>Q1</c:v>
                </c:pt>
                <c:pt idx="1">
                  <c:v>Q2</c:v>
                </c:pt>
                <c:pt idx="2">
                  <c:v>Q3</c:v>
                </c:pt>
                <c:pt idx="3">
                  <c:v>Q4</c:v>
                </c:pt>
                <c:pt idx="4">
                  <c:v>Q5</c:v>
                </c:pt>
                <c:pt idx="5">
                  <c:v>Q6</c:v>
                </c:pt>
                <c:pt idx="6">
                  <c:v>Q7</c:v>
                </c:pt>
                <c:pt idx="7">
                  <c:v>Q8</c:v>
                </c:pt>
              </c:strCache>
            </c:strRef>
          </c:cat>
          <c:val>
            <c:numRef>
              <c:f>Sheet1!$D$2:$D$9</c:f>
              <c:numCache>
                <c:formatCode>General</c:formatCode>
                <c:ptCount val="8"/>
                <c:pt idx="0">
                  <c:v>20</c:v>
                </c:pt>
                <c:pt idx="1">
                  <c:v>93</c:v>
                </c:pt>
                <c:pt idx="2">
                  <c:v>93</c:v>
                </c:pt>
                <c:pt idx="3">
                  <c:v>14</c:v>
                </c:pt>
                <c:pt idx="4">
                  <c:v>21</c:v>
                </c:pt>
                <c:pt idx="5">
                  <c:v>61</c:v>
                </c:pt>
                <c:pt idx="6">
                  <c:v>58</c:v>
                </c:pt>
                <c:pt idx="7">
                  <c:v>58</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filebox Complex PPTX E2E</a:t>
            </a:r>
          </a:p>
        </p:txBody>
      </p:sp>
      <p:sp>
        <p:nvSpPr>
          <p:cNvPr id="3" name="Subtitle 2"/>
          <p:cNvSpPr>
            <a:spLocks noGrp="1"/>
          </p:cNvSpPr>
          <p:nvPr>
            <p:ph type="subTitle" idx="1"/>
          </p:nvPr>
        </p:nvSpPr>
        <p:spPr/>
        <p:txBody>
          <a:bodyPr/>
          <a:lstStyle/>
          <a:p>
            <a:r>
              <a:t>70 slides — images, tables, charts, dense text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1</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2</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1825</a:t>
                      </a:r>
                    </a:p>
                  </a:txBody>
                  <a:tcPr/>
                </a:tc>
                <a:tc>
                  <a:txBody>
                    <a:bodyPr/>
                    <a:lstStyle/>
                    <a:p>
                      <a:r>
                        <a:t>0410</a:t>
                      </a:r>
                    </a:p>
                  </a:txBody>
                  <a:tcPr/>
                </a:tc>
                <a:tc>
                  <a:txBody>
                    <a:bodyPr/>
                    <a:lstStyle/>
                    <a:p>
                      <a:r>
                        <a:t>4507</a:t>
                      </a:r>
                    </a:p>
                  </a:txBody>
                  <a:tcPr/>
                </a:tc>
                <a:tc>
                  <a:txBody>
                    <a:bodyPr/>
                    <a:lstStyle/>
                    <a:p>
                      <a:r>
                        <a:t>4013</a:t>
                      </a:r>
                    </a:p>
                  </a:txBody>
                  <a:tcPr/>
                </a:tc>
                <a:tc>
                  <a:txBody>
                    <a:bodyPr/>
                    <a:lstStyle/>
                    <a:p>
                      <a:r>
                        <a:t>3658</a:t>
                      </a:r>
                    </a:p>
                  </a:txBody>
                  <a:tcPr/>
                </a:tc>
              </a:tr>
              <a:tr h="685800">
                <a:tc>
                  <a:txBody>
                    <a:bodyPr/>
                    <a:lstStyle/>
                    <a:p>
                      <a:r>
                        <a:t>2287</a:t>
                      </a:r>
                    </a:p>
                  </a:txBody>
                  <a:tcPr/>
                </a:tc>
                <a:tc>
                  <a:txBody>
                    <a:bodyPr/>
                    <a:lstStyle/>
                    <a:p>
                      <a:r>
                        <a:t>1680</a:t>
                      </a:r>
                    </a:p>
                  </a:txBody>
                  <a:tcPr/>
                </a:tc>
                <a:tc>
                  <a:txBody>
                    <a:bodyPr/>
                    <a:lstStyle/>
                    <a:p>
                      <a:r>
                        <a:t>8936</a:t>
                      </a:r>
                    </a:p>
                  </a:txBody>
                  <a:tcPr/>
                </a:tc>
                <a:tc>
                  <a:txBody>
                    <a:bodyPr/>
                    <a:lstStyle/>
                    <a:p>
                      <a:r>
                        <a:t>1425</a:t>
                      </a:r>
                    </a:p>
                  </a:txBody>
                  <a:tcPr/>
                </a:tc>
                <a:tc>
                  <a:txBody>
                    <a:bodyPr/>
                    <a:lstStyle/>
                    <a:p>
                      <a:r>
                        <a:t>9675</a:t>
                      </a:r>
                    </a:p>
                  </a:txBody>
                  <a:tcPr/>
                </a:tc>
              </a:tr>
              <a:tr h="685800">
                <a:tc>
                  <a:txBody>
                    <a:bodyPr/>
                    <a:lstStyle/>
                    <a:p>
                      <a:r>
                        <a:t>6913</a:t>
                      </a:r>
                    </a:p>
                  </a:txBody>
                  <a:tcPr/>
                </a:tc>
                <a:tc>
                  <a:txBody>
                    <a:bodyPr/>
                    <a:lstStyle/>
                    <a:p>
                      <a:r>
                        <a:t>0521</a:t>
                      </a:r>
                    </a:p>
                  </a:txBody>
                  <a:tcPr/>
                </a:tc>
                <a:tc>
                  <a:txBody>
                    <a:bodyPr/>
                    <a:lstStyle/>
                    <a:p>
                      <a:r>
                        <a:t>0489</a:t>
                      </a:r>
                    </a:p>
                  </a:txBody>
                  <a:tcPr/>
                </a:tc>
                <a:tc>
                  <a:txBody>
                    <a:bodyPr/>
                    <a:lstStyle/>
                    <a:p>
                      <a:r>
                        <a:t>1536</a:t>
                      </a:r>
                    </a:p>
                  </a:txBody>
                  <a:tcPr/>
                </a:tc>
                <a:tc>
                  <a:txBody>
                    <a:bodyPr/>
                    <a:lstStyle/>
                    <a:p>
                      <a:r>
                        <a:t>3583</a:t>
                      </a:r>
                    </a:p>
                  </a:txBody>
                  <a:tcPr/>
                </a:tc>
              </a:tr>
              <a:tr h="685800">
                <a:tc>
                  <a:txBody>
                    <a:bodyPr/>
                    <a:lstStyle/>
                    <a:p>
                      <a:r>
                        <a:t>3812</a:t>
                      </a:r>
                    </a:p>
                  </a:txBody>
                  <a:tcPr/>
                </a:tc>
                <a:tc>
                  <a:txBody>
                    <a:bodyPr/>
                    <a:lstStyle/>
                    <a:p>
                      <a:r>
                        <a:t>8280</a:t>
                      </a:r>
                    </a:p>
                  </a:txBody>
                  <a:tcPr/>
                </a:tc>
                <a:tc>
                  <a:txBody>
                    <a:bodyPr/>
                    <a:lstStyle/>
                    <a:p>
                      <a:r>
                        <a:t>9864</a:t>
                      </a:r>
                    </a:p>
                  </a:txBody>
                  <a:tcPr/>
                </a:tc>
                <a:tc>
                  <a:txBody>
                    <a:bodyPr/>
                    <a:lstStyle/>
                    <a:p>
                      <a:r>
                        <a:t>0435</a:t>
                      </a:r>
                    </a:p>
                  </a:txBody>
                  <a:tcPr/>
                </a:tc>
                <a:tc>
                  <a:txBody>
                    <a:bodyPr/>
                    <a:lstStyle/>
                    <a:p>
                      <a:r>
                        <a:t>9196</a:t>
                      </a:r>
                    </a:p>
                  </a:txBody>
                  <a:tcPr/>
                </a:tc>
              </a:tr>
              <a:tr h="685800">
                <a:tc>
                  <a:txBody>
                    <a:bodyPr/>
                    <a:lstStyle/>
                    <a:p>
                      <a:r>
                        <a:t>3258</a:t>
                      </a:r>
                    </a:p>
                  </a:txBody>
                  <a:tcPr/>
                </a:tc>
                <a:tc>
                  <a:txBody>
                    <a:bodyPr/>
                    <a:lstStyle/>
                    <a:p>
                      <a:r>
                        <a:t>8929</a:t>
                      </a:r>
                    </a:p>
                  </a:txBody>
                  <a:tcPr/>
                </a:tc>
                <a:tc>
                  <a:txBody>
                    <a:bodyPr/>
                    <a:lstStyle/>
                    <a:p>
                      <a:r>
                        <a:t>6874</a:t>
                      </a:r>
                    </a:p>
                  </a:txBody>
                  <a:tcPr/>
                </a:tc>
                <a:tc>
                  <a:txBody>
                    <a:bodyPr/>
                    <a:lstStyle/>
                    <a:p>
                      <a:r>
                        <a:t>3612</a:t>
                      </a:r>
                    </a:p>
                  </a:txBody>
                  <a:tcPr/>
                </a:tc>
                <a:tc>
                  <a:txBody>
                    <a:bodyPr/>
                    <a:lstStyle/>
                    <a:p>
                      <a:r>
                        <a:t>7360</a:t>
                      </a:r>
                    </a:p>
                  </a:txBody>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3</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4</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cluster sample kernel workflow variance matrix throughput gradient zone cluster benchmark yield histogram kernel cluster histogram dataset network iteration pipeline workflow matrix forecast matrix matrix gradient yield iteration zone yield workflow cluster variance workflow forecast sample histogram forecast pipeline network iteration workflow zone sample histogram yield latency benchmark histogram benchmark latency network iteration cluster gradient throughput zone latency gradient workflow quantile network workflow pipeline endpoint iteration endpoint histogram sample sample iteration throughput outlier throughput network matrix histogram endpoint regression quantile</a:t>
            </a:r>
          </a:p>
          <a:p>
            <a:pPr algn="l">
              <a:defRPr sz="1200"/>
            </a:pPr>
            <a:r>
              <a:t>cluster benchmark dataset endpoint workflow forecast yield outlier variance cluster network network variance pipeline regression iteration sample analysis yield dataset yield sample iteration workflow latency dataset kernel outlier forecast pipeline analysis iteration regression forecast regression dataset workflow kernel workflow regression variance gradient endpoint matrix forecast sample regression analysis variance latency quantile analysis dataset matrix kernel histogram benchmark histogram throughput cluster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5</a:t>
            </a:r>
          </a:p>
        </p:txBody>
      </p:sp>
      <p:sp>
        <p:nvSpPr>
          <p:cNvPr id="3" name="Content Placeholder 2"/>
          <p:cNvSpPr>
            <a:spLocks noGrp="1"/>
          </p:cNvSpPr>
          <p:nvPr>
            <p:ph idx="1"/>
          </p:nvPr>
        </p:nvSpPr>
        <p:spPr/>
        <p:txBody>
          <a:bodyPr/>
          <a:lstStyle/>
          <a:p>
            <a:pPr/>
            <a:r>
              <a:t>Point 1: cluster quantile cluster sample endpoint endpoint yield quantile</a:t>
            </a:r>
          </a:p>
          <a:p>
            <a:pPr lvl="1"/>
            <a:r>
              <a:t>Point 2: sample forecast iteration regression variance outlier gradient sample</a:t>
            </a:r>
          </a:p>
          <a:p>
            <a:pPr lvl="2"/>
            <a:r>
              <a:t>Point 3: zone gradient zone kernel network yield workflow matrix</a:t>
            </a:r>
          </a:p>
          <a:p>
            <a:pPr/>
            <a:r>
              <a:t>Point 4: pipeline regression pipeline dataset histogram histogram cluster latency</a:t>
            </a:r>
          </a:p>
          <a:p>
            <a:pPr lvl="1"/>
            <a:r>
              <a:t>Point 5: analysis throughput sample histogram throughput histogram analysis cluster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6</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7</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0965</a:t>
                      </a:r>
                    </a:p>
                  </a:txBody>
                  <a:tcPr/>
                </a:tc>
                <a:tc>
                  <a:txBody>
                    <a:bodyPr/>
                    <a:lstStyle/>
                    <a:p>
                      <a:r>
                        <a:t>3751</a:t>
                      </a:r>
                    </a:p>
                  </a:txBody>
                  <a:tcPr/>
                </a:tc>
                <a:tc>
                  <a:txBody>
                    <a:bodyPr/>
                    <a:lstStyle/>
                    <a:p>
                      <a:r>
                        <a:t>1105</a:t>
                      </a:r>
                    </a:p>
                  </a:txBody>
                  <a:tcPr/>
                </a:tc>
                <a:tc>
                  <a:txBody>
                    <a:bodyPr/>
                    <a:lstStyle/>
                    <a:p>
                      <a:r>
                        <a:t>0515</a:t>
                      </a:r>
                    </a:p>
                  </a:txBody>
                  <a:tcPr/>
                </a:tc>
                <a:tc>
                  <a:txBody>
                    <a:bodyPr/>
                    <a:lstStyle/>
                    <a:p>
                      <a:r>
                        <a:t>5414</a:t>
                      </a:r>
                    </a:p>
                  </a:txBody>
                  <a:tcPr/>
                </a:tc>
              </a:tr>
              <a:tr h="685800">
                <a:tc>
                  <a:txBody>
                    <a:bodyPr/>
                    <a:lstStyle/>
                    <a:p>
                      <a:r>
                        <a:t>1161</a:t>
                      </a:r>
                    </a:p>
                  </a:txBody>
                  <a:tcPr/>
                </a:tc>
                <a:tc>
                  <a:txBody>
                    <a:bodyPr/>
                    <a:lstStyle/>
                    <a:p>
                      <a:r>
                        <a:t>8424</a:t>
                      </a:r>
                    </a:p>
                  </a:txBody>
                  <a:tcPr/>
                </a:tc>
                <a:tc>
                  <a:txBody>
                    <a:bodyPr/>
                    <a:lstStyle/>
                    <a:p>
                      <a:r>
                        <a:t>3900</a:t>
                      </a:r>
                    </a:p>
                  </a:txBody>
                  <a:tcPr/>
                </a:tc>
                <a:tc>
                  <a:txBody>
                    <a:bodyPr/>
                    <a:lstStyle/>
                    <a:p>
                      <a:r>
                        <a:t>4563</a:t>
                      </a:r>
                    </a:p>
                  </a:txBody>
                  <a:tcPr/>
                </a:tc>
                <a:tc>
                  <a:txBody>
                    <a:bodyPr/>
                    <a:lstStyle/>
                    <a:p>
                      <a:r>
                        <a:t>7954</a:t>
                      </a:r>
                    </a:p>
                  </a:txBody>
                  <a:tcPr/>
                </a:tc>
              </a:tr>
              <a:tr h="685800">
                <a:tc>
                  <a:txBody>
                    <a:bodyPr/>
                    <a:lstStyle/>
                    <a:p>
                      <a:r>
                        <a:t>3511</a:t>
                      </a:r>
                    </a:p>
                  </a:txBody>
                  <a:tcPr/>
                </a:tc>
                <a:tc>
                  <a:txBody>
                    <a:bodyPr/>
                    <a:lstStyle/>
                    <a:p>
                      <a:r>
                        <a:t>8835</a:t>
                      </a:r>
                    </a:p>
                  </a:txBody>
                  <a:tcPr/>
                </a:tc>
                <a:tc>
                  <a:txBody>
                    <a:bodyPr/>
                    <a:lstStyle/>
                    <a:p>
                      <a:r>
                        <a:t>2168</a:t>
                      </a:r>
                    </a:p>
                  </a:txBody>
                  <a:tcPr/>
                </a:tc>
                <a:tc>
                  <a:txBody>
                    <a:bodyPr/>
                    <a:lstStyle/>
                    <a:p>
                      <a:r>
                        <a:t>9356</a:t>
                      </a:r>
                    </a:p>
                  </a:txBody>
                  <a:tcPr/>
                </a:tc>
                <a:tc>
                  <a:txBody>
                    <a:bodyPr/>
                    <a:lstStyle/>
                    <a:p>
                      <a:r>
                        <a:t>9441</a:t>
                      </a:r>
                    </a:p>
                  </a:txBody>
                  <a:tcPr/>
                </a:tc>
              </a:tr>
              <a:tr h="685800">
                <a:tc>
                  <a:txBody>
                    <a:bodyPr/>
                    <a:lstStyle/>
                    <a:p>
                      <a:r>
                        <a:t>7745</a:t>
                      </a:r>
                    </a:p>
                  </a:txBody>
                  <a:tcPr/>
                </a:tc>
                <a:tc>
                  <a:txBody>
                    <a:bodyPr/>
                    <a:lstStyle/>
                    <a:p>
                      <a:r>
                        <a:t>3982</a:t>
                      </a:r>
                    </a:p>
                  </a:txBody>
                  <a:tcPr/>
                </a:tc>
                <a:tc>
                  <a:txBody>
                    <a:bodyPr/>
                    <a:lstStyle/>
                    <a:p>
                      <a:r>
                        <a:t>7750</a:t>
                      </a:r>
                    </a:p>
                  </a:txBody>
                  <a:tcPr/>
                </a:tc>
                <a:tc>
                  <a:txBody>
                    <a:bodyPr/>
                    <a:lstStyle/>
                    <a:p>
                      <a:r>
                        <a:t>6670</a:t>
                      </a:r>
                    </a:p>
                  </a:txBody>
                  <a:tcPr/>
                </a:tc>
                <a:tc>
                  <a:txBody>
                    <a:bodyPr/>
                    <a:lstStyle/>
                    <a:p>
                      <a:r>
                        <a:t>3120</a:t>
                      </a:r>
                    </a:p>
                  </a:txBody>
                  <a:tcPr/>
                </a:tc>
              </a:tr>
              <a:tr h="685800">
                <a:tc>
                  <a:txBody>
                    <a:bodyPr/>
                    <a:lstStyle/>
                    <a:p>
                      <a:r>
                        <a:t>1546</a:t>
                      </a:r>
                    </a:p>
                  </a:txBody>
                  <a:tcPr/>
                </a:tc>
                <a:tc>
                  <a:txBody>
                    <a:bodyPr/>
                    <a:lstStyle/>
                    <a:p>
                      <a:r>
                        <a:t>1589</a:t>
                      </a:r>
                    </a:p>
                  </a:txBody>
                  <a:tcPr/>
                </a:tc>
                <a:tc>
                  <a:txBody>
                    <a:bodyPr/>
                    <a:lstStyle/>
                    <a:p>
                      <a:r>
                        <a:t>7063</a:t>
                      </a:r>
                    </a:p>
                  </a:txBody>
                  <a:tcPr/>
                </a:tc>
                <a:tc>
                  <a:txBody>
                    <a:bodyPr/>
                    <a:lstStyle/>
                    <a:p>
                      <a:r>
                        <a:t>5805</a:t>
                      </a:r>
                    </a:p>
                  </a:txBody>
                  <a:tcPr/>
                </a:tc>
                <a:tc>
                  <a:txBody>
                    <a:bodyPr/>
                    <a:lstStyle/>
                    <a:p>
                      <a:r>
                        <a:t>6940</a:t>
                      </a:r>
                    </a:p>
                  </a:txBody>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8</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9</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sample dataset benchmark workflow sample analysis cluster histogram forecast outlier quantile quantile gradient network benchmark forecast network analysis network iteration pipeline kernel outlier zone sample yield zone quantile endpoint gradient kernel gradient benchmark throughput sample benchmark latency benchmark benchmark throughput quantile regression regression forecast benchmark regression cluster forecast cluster variance cluster yield histogram network dataset throughput histogram throughput variance benchmark variance cluster outlier yield throughput throughput regression latency iteration gradient yield zone latency histogram iteration network endpoint yield workflow kernel</a:t>
            </a:r>
          </a:p>
          <a:p>
            <a:pPr algn="l">
              <a:defRPr sz="1200"/>
            </a:pPr>
            <a:r>
              <a:t>pipeline latency cluster analysis pipeline variance throughput dataset cluster sample gradient regression iteration endpoint matrix cluster histogram matrix kernel forecast pipeline sample zone kernel variance workflow regression analysis yield sample kernel yield dataset endpoint iteration dataset dataset sample endpoint iteration kernel variance gradient zone latency gradient yield workflow iteration regression quantile iteration benchmark cluster workflow outlier iteration benchmark analysis latency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10</a:t>
            </a:r>
          </a:p>
        </p:txBody>
      </p:sp>
      <p:sp>
        <p:nvSpPr>
          <p:cNvPr id="3" name="Content Placeholder 2"/>
          <p:cNvSpPr>
            <a:spLocks noGrp="1"/>
          </p:cNvSpPr>
          <p:nvPr>
            <p:ph idx="1"/>
          </p:nvPr>
        </p:nvSpPr>
        <p:spPr/>
        <p:txBody>
          <a:bodyPr/>
          <a:lstStyle/>
          <a:p>
            <a:pPr/>
            <a:r>
              <a:t>Point 1: endpoint workflow iteration forecast pipeline sample zone outlier</a:t>
            </a:r>
          </a:p>
          <a:p>
            <a:pPr lvl="1"/>
            <a:r>
              <a:t>Point 2: sample analysis dataset cluster zone endpoint sample benchmark</a:t>
            </a:r>
          </a:p>
          <a:p>
            <a:pPr lvl="2"/>
            <a:r>
              <a:t>Point 3: matrix throughput sample endpoint outlier endpoint benchmark kernel</a:t>
            </a:r>
          </a:p>
          <a:p>
            <a:pPr/>
            <a:r>
              <a:t>Point 4: matrix benchmark matrix gradient yield histogram yield dataset</a:t>
            </a:r>
          </a:p>
          <a:p>
            <a:pPr lvl="1"/>
            <a:r>
              <a:t>Point 5: matrix sample outlier variance endpoint histogram forecast forecast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11</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12</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0407</a:t>
                      </a:r>
                    </a:p>
                  </a:txBody>
                  <a:tcPr/>
                </a:tc>
                <a:tc>
                  <a:txBody>
                    <a:bodyPr/>
                    <a:lstStyle/>
                    <a:p>
                      <a:r>
                        <a:t>2939</a:t>
                      </a:r>
                    </a:p>
                  </a:txBody>
                  <a:tcPr/>
                </a:tc>
                <a:tc>
                  <a:txBody>
                    <a:bodyPr/>
                    <a:lstStyle/>
                    <a:p>
                      <a:r>
                        <a:t>5443</a:t>
                      </a:r>
                    </a:p>
                  </a:txBody>
                  <a:tcPr/>
                </a:tc>
                <a:tc>
                  <a:txBody>
                    <a:bodyPr/>
                    <a:lstStyle/>
                    <a:p>
                      <a:r>
                        <a:t>6746</a:t>
                      </a:r>
                    </a:p>
                  </a:txBody>
                  <a:tcPr/>
                </a:tc>
                <a:tc>
                  <a:txBody>
                    <a:bodyPr/>
                    <a:lstStyle/>
                    <a:p>
                      <a:r>
                        <a:t>4066</a:t>
                      </a:r>
                    </a:p>
                  </a:txBody>
                  <a:tcPr/>
                </a:tc>
              </a:tr>
              <a:tr h="685800">
                <a:tc>
                  <a:txBody>
                    <a:bodyPr/>
                    <a:lstStyle/>
                    <a:p>
                      <a:r>
                        <a:t>4372</a:t>
                      </a:r>
                    </a:p>
                  </a:txBody>
                  <a:tcPr/>
                </a:tc>
                <a:tc>
                  <a:txBody>
                    <a:bodyPr/>
                    <a:lstStyle/>
                    <a:p>
                      <a:r>
                        <a:t>2609</a:t>
                      </a:r>
                    </a:p>
                  </a:txBody>
                  <a:tcPr/>
                </a:tc>
                <a:tc>
                  <a:txBody>
                    <a:bodyPr/>
                    <a:lstStyle/>
                    <a:p>
                      <a:r>
                        <a:t>1772</a:t>
                      </a:r>
                    </a:p>
                  </a:txBody>
                  <a:tcPr/>
                </a:tc>
                <a:tc>
                  <a:txBody>
                    <a:bodyPr/>
                    <a:lstStyle/>
                    <a:p>
                      <a:r>
                        <a:t>6268</a:t>
                      </a:r>
                    </a:p>
                  </a:txBody>
                  <a:tcPr/>
                </a:tc>
                <a:tc>
                  <a:txBody>
                    <a:bodyPr/>
                    <a:lstStyle/>
                    <a:p>
                      <a:r>
                        <a:t>0635</a:t>
                      </a:r>
                    </a:p>
                  </a:txBody>
                  <a:tcPr/>
                </a:tc>
              </a:tr>
              <a:tr h="685800">
                <a:tc>
                  <a:txBody>
                    <a:bodyPr/>
                    <a:lstStyle/>
                    <a:p>
                      <a:r>
                        <a:t>7712</a:t>
                      </a:r>
                    </a:p>
                  </a:txBody>
                  <a:tcPr/>
                </a:tc>
                <a:tc>
                  <a:txBody>
                    <a:bodyPr/>
                    <a:lstStyle/>
                    <a:p>
                      <a:r>
                        <a:t>3645</a:t>
                      </a:r>
                    </a:p>
                  </a:txBody>
                  <a:tcPr/>
                </a:tc>
                <a:tc>
                  <a:txBody>
                    <a:bodyPr/>
                    <a:lstStyle/>
                    <a:p>
                      <a:r>
                        <a:t>3270</a:t>
                      </a:r>
                    </a:p>
                  </a:txBody>
                  <a:tcPr/>
                </a:tc>
                <a:tc>
                  <a:txBody>
                    <a:bodyPr/>
                    <a:lstStyle/>
                    <a:p>
                      <a:r>
                        <a:t>7542</a:t>
                      </a:r>
                    </a:p>
                  </a:txBody>
                  <a:tcPr/>
                </a:tc>
                <a:tc>
                  <a:txBody>
                    <a:bodyPr/>
                    <a:lstStyle/>
                    <a:p>
                      <a:r>
                        <a:t>5729</a:t>
                      </a:r>
                    </a:p>
                  </a:txBody>
                  <a:tcPr/>
                </a:tc>
              </a:tr>
              <a:tr h="685800">
                <a:tc>
                  <a:txBody>
                    <a:bodyPr/>
                    <a:lstStyle/>
                    <a:p>
                      <a:r>
                        <a:t>5001</a:t>
                      </a:r>
                    </a:p>
                  </a:txBody>
                  <a:tcPr/>
                </a:tc>
                <a:tc>
                  <a:txBody>
                    <a:bodyPr/>
                    <a:lstStyle/>
                    <a:p>
                      <a:r>
                        <a:t>3729</a:t>
                      </a:r>
                    </a:p>
                  </a:txBody>
                  <a:tcPr/>
                </a:tc>
                <a:tc>
                  <a:txBody>
                    <a:bodyPr/>
                    <a:lstStyle/>
                    <a:p>
                      <a:r>
                        <a:t>3653</a:t>
                      </a:r>
                    </a:p>
                  </a:txBody>
                  <a:tcPr/>
                </a:tc>
                <a:tc>
                  <a:txBody>
                    <a:bodyPr/>
                    <a:lstStyle/>
                    <a:p>
                      <a:r>
                        <a:t>0388</a:t>
                      </a:r>
                    </a:p>
                  </a:txBody>
                  <a:tcPr/>
                </a:tc>
                <a:tc>
                  <a:txBody>
                    <a:bodyPr/>
                    <a:lstStyle/>
                    <a:p>
                      <a:r>
                        <a:t>3165</a:t>
                      </a:r>
                    </a:p>
                  </a:txBody>
                  <a:tcPr/>
                </a:tc>
              </a:tr>
              <a:tr h="685800">
                <a:tc>
                  <a:txBody>
                    <a:bodyPr/>
                    <a:lstStyle/>
                    <a:p>
                      <a:r>
                        <a:t>6529</a:t>
                      </a:r>
                    </a:p>
                  </a:txBody>
                  <a:tcPr/>
                </a:tc>
                <a:tc>
                  <a:txBody>
                    <a:bodyPr/>
                    <a:lstStyle/>
                    <a:p>
                      <a:r>
                        <a:t>5379</a:t>
                      </a:r>
                    </a:p>
                  </a:txBody>
                  <a:tcPr/>
                </a:tc>
                <a:tc>
                  <a:txBody>
                    <a:bodyPr/>
                    <a:lstStyle/>
                    <a:p>
                      <a:r>
                        <a:t>4565</a:t>
                      </a:r>
                    </a:p>
                  </a:txBody>
                  <a:tcPr/>
                </a:tc>
                <a:tc>
                  <a:txBody>
                    <a:bodyPr/>
                    <a:lstStyle/>
                    <a:p>
                      <a:r>
                        <a:t>1138</a:t>
                      </a:r>
                    </a:p>
                  </a:txBody>
                  <a:tcPr/>
                </a:tc>
                <a:tc>
                  <a:txBody>
                    <a:bodyPr/>
                    <a:lstStyle/>
                    <a:p>
                      <a:r>
                        <a:t>4574</a:t>
                      </a:r>
                    </a:p>
                  </a:txBody>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13</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14</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throughput gradient iteration benchmark zone outlier analysis regression sample yield yield gradient matrix outlier cluster yield latency variance latency yield dataset kernel regression kernel yield outlier latency network zone kernel sample endpoint gradient outlier yield network yield forecast variance throughput kernel network sample analysis kernel kernel gradient outlier throughput variance workflow latency pipeline pipeline pipeline yield gradient regression quantile forecast yield cluster kernel regression yield workflow variance latency cluster histogram yield kernel histogram gradient endpoint analysis benchmark histogram quantile variance</a:t>
            </a:r>
          </a:p>
          <a:p>
            <a:pPr algn="l">
              <a:defRPr sz="1200"/>
            </a:pPr>
            <a:r>
              <a:t>cluster pipeline outlier workflow throughput gradient zone zone network quantile network histogram endpoint workflow zone analysis dataset outlier histogram forecast zone regression pipeline benchmark sample histogram dataset pipeline endpoint pipeline yield regression sample variance latency pipeline variance regression outlier sample pipeline forecast quantile pipeline iteration histogram workflow iteration regression quantile workflow histogram iteration pipeline cluster zone kernel histogram iteration latency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15</a:t>
            </a:r>
          </a:p>
        </p:txBody>
      </p:sp>
      <p:sp>
        <p:nvSpPr>
          <p:cNvPr id="3" name="Content Placeholder 2"/>
          <p:cNvSpPr>
            <a:spLocks noGrp="1"/>
          </p:cNvSpPr>
          <p:nvPr>
            <p:ph idx="1"/>
          </p:nvPr>
        </p:nvSpPr>
        <p:spPr/>
        <p:txBody>
          <a:bodyPr/>
          <a:lstStyle/>
          <a:p>
            <a:pPr/>
            <a:r>
              <a:t>Point 1: latency sample cluster endpoint endpoint histogram network zone</a:t>
            </a:r>
          </a:p>
          <a:p>
            <a:pPr lvl="1"/>
            <a:r>
              <a:t>Point 2: endpoint zone gradient cluster outlier outlier latency sample</a:t>
            </a:r>
          </a:p>
          <a:p>
            <a:pPr lvl="2"/>
            <a:r>
              <a:t>Point 3: pipeline outlier benchmark gradient outlier network throughput zone</a:t>
            </a:r>
          </a:p>
          <a:p>
            <a:pPr/>
            <a:r>
              <a:t>Point 4: analysis throughput network quantile analysis matrix kernel network</a:t>
            </a:r>
          </a:p>
          <a:p>
            <a:pPr lvl="1"/>
            <a:r>
              <a:t>Point 5: outlier sample sample variance histogram quantile histogram iteration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16</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17</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7957</a:t>
                      </a:r>
                    </a:p>
                  </a:txBody>
                  <a:tcPr/>
                </a:tc>
                <a:tc>
                  <a:txBody>
                    <a:bodyPr/>
                    <a:lstStyle/>
                    <a:p>
                      <a:r>
                        <a:t>0476</a:t>
                      </a:r>
                    </a:p>
                  </a:txBody>
                  <a:tcPr/>
                </a:tc>
                <a:tc>
                  <a:txBody>
                    <a:bodyPr/>
                    <a:lstStyle/>
                    <a:p>
                      <a:r>
                        <a:t>6372</a:t>
                      </a:r>
                    </a:p>
                  </a:txBody>
                  <a:tcPr/>
                </a:tc>
                <a:tc>
                  <a:txBody>
                    <a:bodyPr/>
                    <a:lstStyle/>
                    <a:p>
                      <a:r>
                        <a:t>5508</a:t>
                      </a:r>
                    </a:p>
                  </a:txBody>
                  <a:tcPr/>
                </a:tc>
                <a:tc>
                  <a:txBody>
                    <a:bodyPr/>
                    <a:lstStyle/>
                    <a:p>
                      <a:r>
                        <a:t>6625</a:t>
                      </a:r>
                    </a:p>
                  </a:txBody>
                  <a:tcPr/>
                </a:tc>
              </a:tr>
              <a:tr h="685800">
                <a:tc>
                  <a:txBody>
                    <a:bodyPr/>
                    <a:lstStyle/>
                    <a:p>
                      <a:r>
                        <a:t>2705</a:t>
                      </a:r>
                    </a:p>
                  </a:txBody>
                  <a:tcPr/>
                </a:tc>
                <a:tc>
                  <a:txBody>
                    <a:bodyPr/>
                    <a:lstStyle/>
                    <a:p>
                      <a:r>
                        <a:t>7658</a:t>
                      </a:r>
                    </a:p>
                  </a:txBody>
                  <a:tcPr/>
                </a:tc>
                <a:tc>
                  <a:txBody>
                    <a:bodyPr/>
                    <a:lstStyle/>
                    <a:p>
                      <a:r>
                        <a:t>2092</a:t>
                      </a:r>
                    </a:p>
                  </a:txBody>
                  <a:tcPr/>
                </a:tc>
                <a:tc>
                  <a:txBody>
                    <a:bodyPr/>
                    <a:lstStyle/>
                    <a:p>
                      <a:r>
                        <a:t>8752</a:t>
                      </a:r>
                    </a:p>
                  </a:txBody>
                  <a:tcPr/>
                </a:tc>
                <a:tc>
                  <a:txBody>
                    <a:bodyPr/>
                    <a:lstStyle/>
                    <a:p>
                      <a:r>
                        <a:t>0442</a:t>
                      </a:r>
                    </a:p>
                  </a:txBody>
                  <a:tcPr/>
                </a:tc>
              </a:tr>
              <a:tr h="685800">
                <a:tc>
                  <a:txBody>
                    <a:bodyPr/>
                    <a:lstStyle/>
                    <a:p>
                      <a:r>
                        <a:t>6456</a:t>
                      </a:r>
                    </a:p>
                  </a:txBody>
                  <a:tcPr/>
                </a:tc>
                <a:tc>
                  <a:txBody>
                    <a:bodyPr/>
                    <a:lstStyle/>
                    <a:p>
                      <a:r>
                        <a:t>9698</a:t>
                      </a:r>
                    </a:p>
                  </a:txBody>
                  <a:tcPr/>
                </a:tc>
                <a:tc>
                  <a:txBody>
                    <a:bodyPr/>
                    <a:lstStyle/>
                    <a:p>
                      <a:r>
                        <a:t>9247</a:t>
                      </a:r>
                    </a:p>
                  </a:txBody>
                  <a:tcPr/>
                </a:tc>
                <a:tc>
                  <a:txBody>
                    <a:bodyPr/>
                    <a:lstStyle/>
                    <a:p>
                      <a:r>
                        <a:t>0445</a:t>
                      </a:r>
                    </a:p>
                  </a:txBody>
                  <a:tcPr/>
                </a:tc>
                <a:tc>
                  <a:txBody>
                    <a:bodyPr/>
                    <a:lstStyle/>
                    <a:p>
                      <a:r>
                        <a:t>1376</a:t>
                      </a:r>
                    </a:p>
                  </a:txBody>
                  <a:tcPr/>
                </a:tc>
              </a:tr>
              <a:tr h="685800">
                <a:tc>
                  <a:txBody>
                    <a:bodyPr/>
                    <a:lstStyle/>
                    <a:p>
                      <a:r>
                        <a:t>7023</a:t>
                      </a:r>
                    </a:p>
                  </a:txBody>
                  <a:tcPr/>
                </a:tc>
                <a:tc>
                  <a:txBody>
                    <a:bodyPr/>
                    <a:lstStyle/>
                    <a:p>
                      <a:r>
                        <a:t>2224</a:t>
                      </a:r>
                    </a:p>
                  </a:txBody>
                  <a:tcPr/>
                </a:tc>
                <a:tc>
                  <a:txBody>
                    <a:bodyPr/>
                    <a:lstStyle/>
                    <a:p>
                      <a:r>
                        <a:t>7565</a:t>
                      </a:r>
                    </a:p>
                  </a:txBody>
                  <a:tcPr/>
                </a:tc>
                <a:tc>
                  <a:txBody>
                    <a:bodyPr/>
                    <a:lstStyle/>
                    <a:p>
                      <a:r>
                        <a:t>2978</a:t>
                      </a:r>
                    </a:p>
                  </a:txBody>
                  <a:tcPr/>
                </a:tc>
                <a:tc>
                  <a:txBody>
                    <a:bodyPr/>
                    <a:lstStyle/>
                    <a:p>
                      <a:r>
                        <a:t>0824</a:t>
                      </a:r>
                    </a:p>
                  </a:txBody>
                  <a:tcPr/>
                </a:tc>
              </a:tr>
              <a:tr h="685800">
                <a:tc>
                  <a:txBody>
                    <a:bodyPr/>
                    <a:lstStyle/>
                    <a:p>
                      <a:r>
                        <a:t>4263</a:t>
                      </a:r>
                    </a:p>
                  </a:txBody>
                  <a:tcPr/>
                </a:tc>
                <a:tc>
                  <a:txBody>
                    <a:bodyPr/>
                    <a:lstStyle/>
                    <a:p>
                      <a:r>
                        <a:t>6212</a:t>
                      </a:r>
                    </a:p>
                  </a:txBody>
                  <a:tcPr/>
                </a:tc>
                <a:tc>
                  <a:txBody>
                    <a:bodyPr/>
                    <a:lstStyle/>
                    <a:p>
                      <a:r>
                        <a:t>5364</a:t>
                      </a:r>
                    </a:p>
                  </a:txBody>
                  <a:tcPr/>
                </a:tc>
                <a:tc>
                  <a:txBody>
                    <a:bodyPr/>
                    <a:lstStyle/>
                    <a:p>
                      <a:r>
                        <a:t>3468</a:t>
                      </a:r>
                    </a:p>
                  </a:txBody>
                  <a:tcPr/>
                </a:tc>
                <a:tc>
                  <a:txBody>
                    <a:bodyPr/>
                    <a:lstStyle/>
                    <a:p>
                      <a:r>
                        <a:t>7450</a:t>
                      </a:r>
                    </a:p>
                  </a:txBody>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18</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19</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endpoint quantile yield dataset throughput gradient pipeline zone iteration matrix forecast variance variance zone dataset forecast kernel dataset throughput analysis kernel throughput yield network network zone gradient cluster throughput zone workflow histogram dataset zone kernel yield variance dataset throughput benchmark matrix sample outlier yield matrix cluster regression workflow latency analysis outlier quantile dataset outlier matrix workflow pipeline zone endpoint outlier forecast regression workflow iteration variance sample quantile pipeline outlier throughput iteration latency histogram cluster iteration pipeline histogram pipeline throughput variance</a:t>
            </a:r>
          </a:p>
          <a:p>
            <a:pPr algn="l">
              <a:defRPr sz="1200"/>
            </a:pPr>
            <a:r>
              <a:t>yield network latency analysis quantile latency forecast quantile gradient matrix iteration latency iteration variance zone iteration sample analysis regression gradient cluster histogram outlier quantile sample histogram zone quantile workflow zone quantile pipeline analysis cluster kernel histogram network zone histogram kernel yield throughput matrix quantile sample regression matrix outlier sample latency matrix zone pipeline iteration kernel iteration histogram dataset gradient latency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20</a:t>
            </a:r>
          </a:p>
        </p:txBody>
      </p:sp>
      <p:sp>
        <p:nvSpPr>
          <p:cNvPr id="3" name="Content Placeholder 2"/>
          <p:cNvSpPr>
            <a:spLocks noGrp="1"/>
          </p:cNvSpPr>
          <p:nvPr>
            <p:ph idx="1"/>
          </p:nvPr>
        </p:nvSpPr>
        <p:spPr/>
        <p:txBody>
          <a:bodyPr/>
          <a:lstStyle/>
          <a:p>
            <a:pPr/>
            <a:r>
              <a:t>Point 1: dataset sample zone forecast gradient gradient quantile iteration</a:t>
            </a:r>
          </a:p>
          <a:p>
            <a:pPr lvl="1"/>
            <a:r>
              <a:t>Point 2: throughput regression variance kernel dataset gradient kernel histogram</a:t>
            </a:r>
          </a:p>
          <a:p>
            <a:pPr lvl="2"/>
            <a:r>
              <a:t>Point 3: matrix forecast kernel analysis zone sample endpoint iteration</a:t>
            </a:r>
          </a:p>
          <a:p>
            <a:pPr/>
            <a:r>
              <a:t>Point 4: benchmark benchmark sample kernel zone endpoint workflow quantile</a:t>
            </a:r>
          </a:p>
          <a:p>
            <a:pPr lvl="1"/>
            <a:r>
              <a:t>Point 5: dataset analysis throughput kernel quantile quantile pipeline latency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21</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22</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0842</a:t>
                      </a:r>
                    </a:p>
                  </a:txBody>
                  <a:tcPr/>
                </a:tc>
                <a:tc>
                  <a:txBody>
                    <a:bodyPr/>
                    <a:lstStyle/>
                    <a:p>
                      <a:r>
                        <a:t>4137</a:t>
                      </a:r>
                    </a:p>
                  </a:txBody>
                  <a:tcPr/>
                </a:tc>
                <a:tc>
                  <a:txBody>
                    <a:bodyPr/>
                    <a:lstStyle/>
                    <a:p>
                      <a:r>
                        <a:t>7828</a:t>
                      </a:r>
                    </a:p>
                  </a:txBody>
                  <a:tcPr/>
                </a:tc>
                <a:tc>
                  <a:txBody>
                    <a:bodyPr/>
                    <a:lstStyle/>
                    <a:p>
                      <a:r>
                        <a:t>1870</a:t>
                      </a:r>
                    </a:p>
                  </a:txBody>
                  <a:tcPr/>
                </a:tc>
                <a:tc>
                  <a:txBody>
                    <a:bodyPr/>
                    <a:lstStyle/>
                    <a:p>
                      <a:r>
                        <a:t>1071</a:t>
                      </a:r>
                    </a:p>
                  </a:txBody>
                  <a:tcPr/>
                </a:tc>
              </a:tr>
              <a:tr h="685800">
                <a:tc>
                  <a:txBody>
                    <a:bodyPr/>
                    <a:lstStyle/>
                    <a:p>
                      <a:r>
                        <a:t>6566</a:t>
                      </a:r>
                    </a:p>
                  </a:txBody>
                  <a:tcPr/>
                </a:tc>
                <a:tc>
                  <a:txBody>
                    <a:bodyPr/>
                    <a:lstStyle/>
                    <a:p>
                      <a:r>
                        <a:t>8057</a:t>
                      </a:r>
                    </a:p>
                  </a:txBody>
                  <a:tcPr/>
                </a:tc>
                <a:tc>
                  <a:txBody>
                    <a:bodyPr/>
                    <a:lstStyle/>
                    <a:p>
                      <a:r>
                        <a:t>1214</a:t>
                      </a:r>
                    </a:p>
                  </a:txBody>
                  <a:tcPr/>
                </a:tc>
                <a:tc>
                  <a:txBody>
                    <a:bodyPr/>
                    <a:lstStyle/>
                    <a:p>
                      <a:r>
                        <a:t>9454</a:t>
                      </a:r>
                    </a:p>
                  </a:txBody>
                  <a:tcPr/>
                </a:tc>
                <a:tc>
                  <a:txBody>
                    <a:bodyPr/>
                    <a:lstStyle/>
                    <a:p>
                      <a:r>
                        <a:t>0879</a:t>
                      </a:r>
                    </a:p>
                  </a:txBody>
                  <a:tcPr/>
                </a:tc>
              </a:tr>
              <a:tr h="685800">
                <a:tc>
                  <a:txBody>
                    <a:bodyPr/>
                    <a:lstStyle/>
                    <a:p>
                      <a:r>
                        <a:t>2486</a:t>
                      </a:r>
                    </a:p>
                  </a:txBody>
                  <a:tcPr/>
                </a:tc>
                <a:tc>
                  <a:txBody>
                    <a:bodyPr/>
                    <a:lstStyle/>
                    <a:p>
                      <a:r>
                        <a:t>2445</a:t>
                      </a:r>
                    </a:p>
                  </a:txBody>
                  <a:tcPr/>
                </a:tc>
                <a:tc>
                  <a:txBody>
                    <a:bodyPr/>
                    <a:lstStyle/>
                    <a:p>
                      <a:r>
                        <a:t>9222</a:t>
                      </a:r>
                    </a:p>
                  </a:txBody>
                  <a:tcPr/>
                </a:tc>
                <a:tc>
                  <a:txBody>
                    <a:bodyPr/>
                    <a:lstStyle/>
                    <a:p>
                      <a:r>
                        <a:t>4979</a:t>
                      </a:r>
                    </a:p>
                  </a:txBody>
                  <a:tcPr/>
                </a:tc>
                <a:tc>
                  <a:txBody>
                    <a:bodyPr/>
                    <a:lstStyle/>
                    <a:p>
                      <a:r>
                        <a:t>1396</a:t>
                      </a:r>
                    </a:p>
                  </a:txBody>
                  <a:tcPr/>
                </a:tc>
              </a:tr>
              <a:tr h="685800">
                <a:tc>
                  <a:txBody>
                    <a:bodyPr/>
                    <a:lstStyle/>
                    <a:p>
                      <a:r>
                        <a:t>4067</a:t>
                      </a:r>
                    </a:p>
                  </a:txBody>
                  <a:tcPr/>
                </a:tc>
                <a:tc>
                  <a:txBody>
                    <a:bodyPr/>
                    <a:lstStyle/>
                    <a:p>
                      <a:r>
                        <a:t>1941</a:t>
                      </a:r>
                    </a:p>
                  </a:txBody>
                  <a:tcPr/>
                </a:tc>
                <a:tc>
                  <a:txBody>
                    <a:bodyPr/>
                    <a:lstStyle/>
                    <a:p>
                      <a:r>
                        <a:t>9144</a:t>
                      </a:r>
                    </a:p>
                  </a:txBody>
                  <a:tcPr/>
                </a:tc>
                <a:tc>
                  <a:txBody>
                    <a:bodyPr/>
                    <a:lstStyle/>
                    <a:p>
                      <a:r>
                        <a:t>6819</a:t>
                      </a:r>
                    </a:p>
                  </a:txBody>
                  <a:tcPr/>
                </a:tc>
                <a:tc>
                  <a:txBody>
                    <a:bodyPr/>
                    <a:lstStyle/>
                    <a:p>
                      <a:r>
                        <a:t>9934</a:t>
                      </a:r>
                    </a:p>
                  </a:txBody>
                  <a:tcPr/>
                </a:tc>
              </a:tr>
              <a:tr h="685800">
                <a:tc>
                  <a:txBody>
                    <a:bodyPr/>
                    <a:lstStyle/>
                    <a:p>
                      <a:r>
                        <a:t>9767</a:t>
                      </a:r>
                    </a:p>
                  </a:txBody>
                  <a:tcPr/>
                </a:tc>
                <a:tc>
                  <a:txBody>
                    <a:bodyPr/>
                    <a:lstStyle/>
                    <a:p>
                      <a:r>
                        <a:t>3698</a:t>
                      </a:r>
                    </a:p>
                  </a:txBody>
                  <a:tcPr/>
                </a:tc>
                <a:tc>
                  <a:txBody>
                    <a:bodyPr/>
                    <a:lstStyle/>
                    <a:p>
                      <a:r>
                        <a:t>8562</a:t>
                      </a:r>
                    </a:p>
                  </a:txBody>
                  <a:tcPr/>
                </a:tc>
                <a:tc>
                  <a:txBody>
                    <a:bodyPr/>
                    <a:lstStyle/>
                    <a:p>
                      <a:r>
                        <a:t>6233</a:t>
                      </a:r>
                    </a:p>
                  </a:txBody>
                  <a:tcPr/>
                </a:tc>
                <a:tc>
                  <a:txBody>
                    <a:bodyPr/>
                    <a:lstStyle/>
                    <a:p>
                      <a:r>
                        <a:t>7382</a:t>
                      </a:r>
                    </a:p>
                  </a:txBody>
                  <a:tcPr/>
                </a:tc>
              </a:tr>
            </a:tbl>
          </a:graphicData>
        </a:graphic>
      </p:graphicFrame>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23</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24</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pipeline zone variance quantile kernel benchmark histogram kernel zone kernel zone pipeline cluster yield histogram iteration workflow throughput yield gradient outlier dataset sample histogram workflow endpoint iteration endpoint cluster benchmark forecast kernel variance throughput kernel pipeline dataset pipeline zone kernel zone network iteration regression sample quantile pipeline cluster variance benchmark outlier latency variance iteration analysis cluster histogram yield throughput throughput analysis yield iteration throughput benchmark forecast quantile regression workflow pipeline iteration forecast throughput outlier workflow quantile cluster quantile matrix outlier</a:t>
            </a:r>
          </a:p>
          <a:p>
            <a:pPr algn="l">
              <a:defRPr sz="1200"/>
            </a:pPr>
            <a:r>
              <a:t>latency latency yield dataset forecast latency outlier zone quantile kernel yield network sample benchmark pipeline cluster latency iteration latency dataset network regression analysis yield sample pipeline outlier benchmark gradient regression matrix variance quantile workflow pipeline benchmark gradient iteration sample endpoint kernel pipeline zone quantile dataset analysis workflow variance histogram zone forecast kernel sample analysis sample outlier cluster histogram dataset pipeline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25</a:t>
            </a:r>
          </a:p>
        </p:txBody>
      </p:sp>
      <p:sp>
        <p:nvSpPr>
          <p:cNvPr id="3" name="Content Placeholder 2"/>
          <p:cNvSpPr>
            <a:spLocks noGrp="1"/>
          </p:cNvSpPr>
          <p:nvPr>
            <p:ph idx="1"/>
          </p:nvPr>
        </p:nvSpPr>
        <p:spPr/>
        <p:txBody>
          <a:bodyPr/>
          <a:lstStyle/>
          <a:p>
            <a:pPr/>
            <a:r>
              <a:t>Point 1: dataset workflow endpoint quantile zone kernel regression zone</a:t>
            </a:r>
          </a:p>
          <a:p>
            <a:pPr lvl="1"/>
            <a:r>
              <a:t>Point 2: iteration outlier quantile quantile histogram pipeline sample endpoint</a:t>
            </a:r>
          </a:p>
          <a:p>
            <a:pPr lvl="2"/>
            <a:r>
              <a:t>Point 3: network gradient variance regression endpoint cluster iteration outlier</a:t>
            </a:r>
          </a:p>
          <a:p>
            <a:pPr/>
            <a:r>
              <a:t>Point 4: latency regression iteration analysis kernel kernel throughput throughput</a:t>
            </a:r>
          </a:p>
          <a:p>
            <a:pPr lvl="1"/>
            <a:r>
              <a:t>Point 5: yield quantile endpoint pipeline sample quantile matrix latency</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26</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27</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8904</a:t>
                      </a:r>
                    </a:p>
                  </a:txBody>
                  <a:tcPr/>
                </a:tc>
                <a:tc>
                  <a:txBody>
                    <a:bodyPr/>
                    <a:lstStyle/>
                    <a:p>
                      <a:r>
                        <a:t>6181</a:t>
                      </a:r>
                    </a:p>
                  </a:txBody>
                  <a:tcPr/>
                </a:tc>
                <a:tc>
                  <a:txBody>
                    <a:bodyPr/>
                    <a:lstStyle/>
                    <a:p>
                      <a:r>
                        <a:t>7461</a:t>
                      </a:r>
                    </a:p>
                  </a:txBody>
                  <a:tcPr/>
                </a:tc>
                <a:tc>
                  <a:txBody>
                    <a:bodyPr/>
                    <a:lstStyle/>
                    <a:p>
                      <a:r>
                        <a:t>5273</a:t>
                      </a:r>
                    </a:p>
                  </a:txBody>
                  <a:tcPr/>
                </a:tc>
                <a:tc>
                  <a:txBody>
                    <a:bodyPr/>
                    <a:lstStyle/>
                    <a:p>
                      <a:r>
                        <a:t>3091</a:t>
                      </a:r>
                    </a:p>
                  </a:txBody>
                  <a:tcPr/>
                </a:tc>
              </a:tr>
              <a:tr h="685800">
                <a:tc>
                  <a:txBody>
                    <a:bodyPr/>
                    <a:lstStyle/>
                    <a:p>
                      <a:r>
                        <a:t>3913</a:t>
                      </a:r>
                    </a:p>
                  </a:txBody>
                  <a:tcPr/>
                </a:tc>
                <a:tc>
                  <a:txBody>
                    <a:bodyPr/>
                    <a:lstStyle/>
                    <a:p>
                      <a:r>
                        <a:t>9369</a:t>
                      </a:r>
                    </a:p>
                  </a:txBody>
                  <a:tcPr/>
                </a:tc>
                <a:tc>
                  <a:txBody>
                    <a:bodyPr/>
                    <a:lstStyle/>
                    <a:p>
                      <a:r>
                        <a:t>6275</a:t>
                      </a:r>
                    </a:p>
                  </a:txBody>
                  <a:tcPr/>
                </a:tc>
                <a:tc>
                  <a:txBody>
                    <a:bodyPr/>
                    <a:lstStyle/>
                    <a:p>
                      <a:r>
                        <a:t>3827</a:t>
                      </a:r>
                    </a:p>
                  </a:txBody>
                  <a:tcPr/>
                </a:tc>
                <a:tc>
                  <a:txBody>
                    <a:bodyPr/>
                    <a:lstStyle/>
                    <a:p>
                      <a:r>
                        <a:t>6731</a:t>
                      </a:r>
                    </a:p>
                  </a:txBody>
                  <a:tcPr/>
                </a:tc>
              </a:tr>
              <a:tr h="685800">
                <a:tc>
                  <a:txBody>
                    <a:bodyPr/>
                    <a:lstStyle/>
                    <a:p>
                      <a:r>
                        <a:t>0716</a:t>
                      </a:r>
                    </a:p>
                  </a:txBody>
                  <a:tcPr/>
                </a:tc>
                <a:tc>
                  <a:txBody>
                    <a:bodyPr/>
                    <a:lstStyle/>
                    <a:p>
                      <a:r>
                        <a:t>5214</a:t>
                      </a:r>
                    </a:p>
                  </a:txBody>
                  <a:tcPr/>
                </a:tc>
                <a:tc>
                  <a:txBody>
                    <a:bodyPr/>
                    <a:lstStyle/>
                    <a:p>
                      <a:r>
                        <a:t>7750</a:t>
                      </a:r>
                    </a:p>
                  </a:txBody>
                  <a:tcPr/>
                </a:tc>
                <a:tc>
                  <a:txBody>
                    <a:bodyPr/>
                    <a:lstStyle/>
                    <a:p>
                      <a:r>
                        <a:t>6247</a:t>
                      </a:r>
                    </a:p>
                  </a:txBody>
                  <a:tcPr/>
                </a:tc>
                <a:tc>
                  <a:txBody>
                    <a:bodyPr/>
                    <a:lstStyle/>
                    <a:p>
                      <a:r>
                        <a:t>6326</a:t>
                      </a:r>
                    </a:p>
                  </a:txBody>
                  <a:tcPr/>
                </a:tc>
              </a:tr>
              <a:tr h="685800">
                <a:tc>
                  <a:txBody>
                    <a:bodyPr/>
                    <a:lstStyle/>
                    <a:p>
                      <a:r>
                        <a:t>2493</a:t>
                      </a:r>
                    </a:p>
                  </a:txBody>
                  <a:tcPr/>
                </a:tc>
                <a:tc>
                  <a:txBody>
                    <a:bodyPr/>
                    <a:lstStyle/>
                    <a:p>
                      <a:r>
                        <a:t>8116</a:t>
                      </a:r>
                    </a:p>
                  </a:txBody>
                  <a:tcPr/>
                </a:tc>
                <a:tc>
                  <a:txBody>
                    <a:bodyPr/>
                    <a:lstStyle/>
                    <a:p>
                      <a:r>
                        <a:t>0607</a:t>
                      </a:r>
                    </a:p>
                  </a:txBody>
                  <a:tcPr/>
                </a:tc>
                <a:tc>
                  <a:txBody>
                    <a:bodyPr/>
                    <a:lstStyle/>
                    <a:p>
                      <a:r>
                        <a:t>2069</a:t>
                      </a:r>
                    </a:p>
                  </a:txBody>
                  <a:tcPr/>
                </a:tc>
                <a:tc>
                  <a:txBody>
                    <a:bodyPr/>
                    <a:lstStyle/>
                    <a:p>
                      <a:r>
                        <a:t>8230</a:t>
                      </a:r>
                    </a:p>
                  </a:txBody>
                  <a:tcPr/>
                </a:tc>
              </a:tr>
              <a:tr h="685800">
                <a:tc>
                  <a:txBody>
                    <a:bodyPr/>
                    <a:lstStyle/>
                    <a:p>
                      <a:r>
                        <a:t>9670</a:t>
                      </a:r>
                    </a:p>
                  </a:txBody>
                  <a:tcPr/>
                </a:tc>
                <a:tc>
                  <a:txBody>
                    <a:bodyPr/>
                    <a:lstStyle/>
                    <a:p>
                      <a:r>
                        <a:t>5440</a:t>
                      </a:r>
                    </a:p>
                  </a:txBody>
                  <a:tcPr/>
                </a:tc>
                <a:tc>
                  <a:txBody>
                    <a:bodyPr/>
                    <a:lstStyle/>
                    <a:p>
                      <a:r>
                        <a:t>1645</a:t>
                      </a:r>
                    </a:p>
                  </a:txBody>
                  <a:tcPr/>
                </a:tc>
                <a:tc>
                  <a:txBody>
                    <a:bodyPr/>
                    <a:lstStyle/>
                    <a:p>
                      <a:r>
                        <a:t>7214</a:t>
                      </a:r>
                    </a:p>
                  </a:txBody>
                  <a:tcPr/>
                </a:tc>
                <a:tc>
                  <a:txBody>
                    <a:bodyPr/>
                    <a:lstStyle/>
                    <a:p>
                      <a:r>
                        <a:t>1634</a:t>
                      </a:r>
                    </a:p>
                  </a:txBody>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28</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29</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benchmark variance cluster histogram workflow yield kernel histogram cluster outlier dataset workflow zone dataset pipeline forecast zone kernel analysis benchmark latency benchmark kernel matrix matrix outlier endpoint histogram regression outlier throughput yield forecast forecast forecast cluster variance network variance yield histogram quantile throughput endpoint histogram pipeline workflow iteration pipeline iteration yield analysis pipeline kernel yield sample forecast cluster pipeline matrix throughput kernel workflow outlier zone iteration pipeline kernel gradient network quantile dataset histogram network throughput matrix throughput kernel zone kernel</a:t>
            </a:r>
          </a:p>
          <a:p>
            <a:pPr algn="l">
              <a:defRPr sz="1200"/>
            </a:pPr>
            <a:r>
              <a:t>analysis yield network iteration analysis throughput yield benchmark variance quantile kernel histogram variance matrix histogram workflow gradient variance iteration yield yield yield endpoint workflow dataset workflow workflow benchmark kernel pipeline benchmark throughput matrix endpoint cluster kernel latency outlier forecast gradient endpoint sample matrix regression regression iteration forecast iteration quantile kernel latency dataset pipeline cluster endpoint histogram yield yield network sample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30</a:t>
            </a:r>
          </a:p>
        </p:txBody>
      </p:sp>
      <p:sp>
        <p:nvSpPr>
          <p:cNvPr id="3" name="Content Placeholder 2"/>
          <p:cNvSpPr>
            <a:spLocks noGrp="1"/>
          </p:cNvSpPr>
          <p:nvPr>
            <p:ph idx="1"/>
          </p:nvPr>
        </p:nvSpPr>
        <p:spPr/>
        <p:txBody>
          <a:bodyPr/>
          <a:lstStyle/>
          <a:p>
            <a:pPr/>
            <a:r>
              <a:t>Point 1: matrix cluster network analysis iteration sample dataset pipeline</a:t>
            </a:r>
          </a:p>
          <a:p>
            <a:pPr lvl="1"/>
            <a:r>
              <a:t>Point 2: matrix yield yield iteration throughput network workflow matrix</a:t>
            </a:r>
          </a:p>
          <a:p>
            <a:pPr lvl="2"/>
            <a:r>
              <a:t>Point 3: dataset yield histogram quantile analysis variance sample latency</a:t>
            </a:r>
          </a:p>
          <a:p>
            <a:pPr/>
            <a:r>
              <a:t>Point 4: variance histogram workflow cluster workflow pipeline zone kernel</a:t>
            </a:r>
          </a:p>
          <a:p>
            <a:pPr lvl="1"/>
            <a:r>
              <a:t>Point 5: workflow outlier dataset endpoint benchmark benchmark kernel quantile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31</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32</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1593</a:t>
                      </a:r>
                    </a:p>
                  </a:txBody>
                  <a:tcPr/>
                </a:tc>
                <a:tc>
                  <a:txBody>
                    <a:bodyPr/>
                    <a:lstStyle/>
                    <a:p>
                      <a:r>
                        <a:t>3847</a:t>
                      </a:r>
                    </a:p>
                  </a:txBody>
                  <a:tcPr/>
                </a:tc>
                <a:tc>
                  <a:txBody>
                    <a:bodyPr/>
                    <a:lstStyle/>
                    <a:p>
                      <a:r>
                        <a:t>8808</a:t>
                      </a:r>
                    </a:p>
                  </a:txBody>
                  <a:tcPr/>
                </a:tc>
                <a:tc>
                  <a:txBody>
                    <a:bodyPr/>
                    <a:lstStyle/>
                    <a:p>
                      <a:r>
                        <a:t>2223</a:t>
                      </a:r>
                    </a:p>
                  </a:txBody>
                  <a:tcPr/>
                </a:tc>
                <a:tc>
                  <a:txBody>
                    <a:bodyPr/>
                    <a:lstStyle/>
                    <a:p>
                      <a:r>
                        <a:t>6368</a:t>
                      </a:r>
                    </a:p>
                  </a:txBody>
                  <a:tcPr/>
                </a:tc>
              </a:tr>
              <a:tr h="685800">
                <a:tc>
                  <a:txBody>
                    <a:bodyPr/>
                    <a:lstStyle/>
                    <a:p>
                      <a:r>
                        <a:t>7433</a:t>
                      </a:r>
                    </a:p>
                  </a:txBody>
                  <a:tcPr/>
                </a:tc>
                <a:tc>
                  <a:txBody>
                    <a:bodyPr/>
                    <a:lstStyle/>
                    <a:p>
                      <a:r>
                        <a:t>6079</a:t>
                      </a:r>
                    </a:p>
                  </a:txBody>
                  <a:tcPr/>
                </a:tc>
                <a:tc>
                  <a:txBody>
                    <a:bodyPr/>
                    <a:lstStyle/>
                    <a:p>
                      <a:r>
                        <a:t>8851</a:t>
                      </a:r>
                    </a:p>
                  </a:txBody>
                  <a:tcPr/>
                </a:tc>
                <a:tc>
                  <a:txBody>
                    <a:bodyPr/>
                    <a:lstStyle/>
                    <a:p>
                      <a:r>
                        <a:t>6867</a:t>
                      </a:r>
                    </a:p>
                  </a:txBody>
                  <a:tcPr/>
                </a:tc>
                <a:tc>
                  <a:txBody>
                    <a:bodyPr/>
                    <a:lstStyle/>
                    <a:p>
                      <a:r>
                        <a:t>9623</a:t>
                      </a:r>
                    </a:p>
                  </a:txBody>
                  <a:tcPr/>
                </a:tc>
              </a:tr>
              <a:tr h="685800">
                <a:tc>
                  <a:txBody>
                    <a:bodyPr/>
                    <a:lstStyle/>
                    <a:p>
                      <a:r>
                        <a:t>2532</a:t>
                      </a:r>
                    </a:p>
                  </a:txBody>
                  <a:tcPr/>
                </a:tc>
                <a:tc>
                  <a:txBody>
                    <a:bodyPr/>
                    <a:lstStyle/>
                    <a:p>
                      <a:r>
                        <a:t>6798</a:t>
                      </a:r>
                    </a:p>
                  </a:txBody>
                  <a:tcPr/>
                </a:tc>
                <a:tc>
                  <a:txBody>
                    <a:bodyPr/>
                    <a:lstStyle/>
                    <a:p>
                      <a:r>
                        <a:t>1623</a:t>
                      </a:r>
                    </a:p>
                  </a:txBody>
                  <a:tcPr/>
                </a:tc>
                <a:tc>
                  <a:txBody>
                    <a:bodyPr/>
                    <a:lstStyle/>
                    <a:p>
                      <a:r>
                        <a:t>8018</a:t>
                      </a:r>
                    </a:p>
                  </a:txBody>
                  <a:tcPr/>
                </a:tc>
                <a:tc>
                  <a:txBody>
                    <a:bodyPr/>
                    <a:lstStyle/>
                    <a:p>
                      <a:r>
                        <a:t>6687</a:t>
                      </a:r>
                    </a:p>
                  </a:txBody>
                  <a:tcPr/>
                </a:tc>
              </a:tr>
              <a:tr h="685800">
                <a:tc>
                  <a:txBody>
                    <a:bodyPr/>
                    <a:lstStyle/>
                    <a:p>
                      <a:r>
                        <a:t>4584</a:t>
                      </a:r>
                    </a:p>
                  </a:txBody>
                  <a:tcPr/>
                </a:tc>
                <a:tc>
                  <a:txBody>
                    <a:bodyPr/>
                    <a:lstStyle/>
                    <a:p>
                      <a:r>
                        <a:t>0537</a:t>
                      </a:r>
                    </a:p>
                  </a:txBody>
                  <a:tcPr/>
                </a:tc>
                <a:tc>
                  <a:txBody>
                    <a:bodyPr/>
                    <a:lstStyle/>
                    <a:p>
                      <a:r>
                        <a:t>6071</a:t>
                      </a:r>
                    </a:p>
                  </a:txBody>
                  <a:tcPr/>
                </a:tc>
                <a:tc>
                  <a:txBody>
                    <a:bodyPr/>
                    <a:lstStyle/>
                    <a:p>
                      <a:r>
                        <a:t>3560</a:t>
                      </a:r>
                    </a:p>
                  </a:txBody>
                  <a:tcPr/>
                </a:tc>
                <a:tc>
                  <a:txBody>
                    <a:bodyPr/>
                    <a:lstStyle/>
                    <a:p>
                      <a:r>
                        <a:t>7265</a:t>
                      </a:r>
                    </a:p>
                  </a:txBody>
                  <a:tcPr/>
                </a:tc>
              </a:tr>
              <a:tr h="685800">
                <a:tc>
                  <a:txBody>
                    <a:bodyPr/>
                    <a:lstStyle/>
                    <a:p>
                      <a:r>
                        <a:t>7286</a:t>
                      </a:r>
                    </a:p>
                  </a:txBody>
                  <a:tcPr/>
                </a:tc>
                <a:tc>
                  <a:txBody>
                    <a:bodyPr/>
                    <a:lstStyle/>
                    <a:p>
                      <a:r>
                        <a:t>3869</a:t>
                      </a:r>
                    </a:p>
                  </a:txBody>
                  <a:tcPr/>
                </a:tc>
                <a:tc>
                  <a:txBody>
                    <a:bodyPr/>
                    <a:lstStyle/>
                    <a:p>
                      <a:r>
                        <a:t>5943</a:t>
                      </a:r>
                    </a:p>
                  </a:txBody>
                  <a:tcPr/>
                </a:tc>
                <a:tc>
                  <a:txBody>
                    <a:bodyPr/>
                    <a:lstStyle/>
                    <a:p>
                      <a:r>
                        <a:t>1628</a:t>
                      </a:r>
                    </a:p>
                  </a:txBody>
                  <a:tcPr/>
                </a:tc>
                <a:tc>
                  <a:txBody>
                    <a:bodyPr/>
                    <a:lstStyle/>
                    <a:p>
                      <a:r>
                        <a:t>6019</a:t>
                      </a:r>
                    </a:p>
                  </a:txBody>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33</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34</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gradient throughput gradient histogram latency endpoint variance analysis iteration endpoint endpoint sample iteration forecast dataset yield analysis endpoint analysis matrix histogram throughput latency analysis forecast iteration benchmark endpoint outlier regression dataset cluster quantile pipeline matrix regression throughput dataset pipeline regression histogram variance benchmark yield regression kernel pipeline workflow analysis benchmark quantile network outlier yield dataset quantile zone pipeline cluster cluster latency variance endpoint cluster endpoint iteration variance workflow throughput sample zone latency network variance regression kernel pipeline regression variance outlier</a:t>
            </a:r>
          </a:p>
          <a:p>
            <a:pPr algn="l">
              <a:defRPr sz="1200"/>
            </a:pPr>
            <a:r>
              <a:t>dataset zone dataset workflow workflow sample gradient outlier pipeline histogram outlier latency pipeline network outlier dataset latency outlier latency yield iteration matrix endpoint yield quantile cluster cluster cluster cluster outlier dataset matrix endpoint sample benchmark throughput sample sample latency yield dataset outlier matrix yield outlier benchmark kernel variance kernel matrix dataset throughput regression gradient endpoint yield quantile histogram dataset matrix</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35</a:t>
            </a:r>
          </a:p>
        </p:txBody>
      </p:sp>
      <p:sp>
        <p:nvSpPr>
          <p:cNvPr id="3" name="Content Placeholder 2"/>
          <p:cNvSpPr>
            <a:spLocks noGrp="1"/>
          </p:cNvSpPr>
          <p:nvPr>
            <p:ph idx="1"/>
          </p:nvPr>
        </p:nvSpPr>
        <p:spPr/>
        <p:txBody>
          <a:bodyPr/>
          <a:lstStyle/>
          <a:p>
            <a:pPr/>
            <a:r>
              <a:t>Point 1: sample matrix dataset iteration throughput histogram outlier sample</a:t>
            </a:r>
          </a:p>
          <a:p>
            <a:pPr lvl="1"/>
            <a:r>
              <a:t>Point 2: variance variance yield workflow sample analysis variance yield</a:t>
            </a:r>
          </a:p>
          <a:p>
            <a:pPr lvl="2"/>
            <a:r>
              <a:t>Point 3: zone iteration analysis forecast iteration zone kernel latency</a:t>
            </a:r>
          </a:p>
          <a:p>
            <a:pPr/>
            <a:r>
              <a:t>Point 4: matrix analysis forecast endpoint throughput yield network cluster</a:t>
            </a:r>
          </a:p>
          <a:p>
            <a:pPr lvl="1"/>
            <a:r>
              <a:t>Point 5: endpoint workflow analysis cluster regression gradient network outlier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36</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37</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5586</a:t>
                      </a:r>
                    </a:p>
                  </a:txBody>
                  <a:tcPr/>
                </a:tc>
                <a:tc>
                  <a:txBody>
                    <a:bodyPr/>
                    <a:lstStyle/>
                    <a:p>
                      <a:r>
                        <a:t>2579</a:t>
                      </a:r>
                    </a:p>
                  </a:txBody>
                  <a:tcPr/>
                </a:tc>
                <a:tc>
                  <a:txBody>
                    <a:bodyPr/>
                    <a:lstStyle/>
                    <a:p>
                      <a:r>
                        <a:t>6063</a:t>
                      </a:r>
                    </a:p>
                  </a:txBody>
                  <a:tcPr/>
                </a:tc>
                <a:tc>
                  <a:txBody>
                    <a:bodyPr/>
                    <a:lstStyle/>
                    <a:p>
                      <a:r>
                        <a:t>5106</a:t>
                      </a:r>
                    </a:p>
                  </a:txBody>
                  <a:tcPr/>
                </a:tc>
                <a:tc>
                  <a:txBody>
                    <a:bodyPr/>
                    <a:lstStyle/>
                    <a:p>
                      <a:r>
                        <a:t>5315</a:t>
                      </a:r>
                    </a:p>
                  </a:txBody>
                  <a:tcPr/>
                </a:tc>
              </a:tr>
              <a:tr h="685800">
                <a:tc>
                  <a:txBody>
                    <a:bodyPr/>
                    <a:lstStyle/>
                    <a:p>
                      <a:r>
                        <a:t>9300</a:t>
                      </a:r>
                    </a:p>
                  </a:txBody>
                  <a:tcPr/>
                </a:tc>
                <a:tc>
                  <a:txBody>
                    <a:bodyPr/>
                    <a:lstStyle/>
                    <a:p>
                      <a:r>
                        <a:t>9769</a:t>
                      </a:r>
                    </a:p>
                  </a:txBody>
                  <a:tcPr/>
                </a:tc>
                <a:tc>
                  <a:txBody>
                    <a:bodyPr/>
                    <a:lstStyle/>
                    <a:p>
                      <a:r>
                        <a:t>1392</a:t>
                      </a:r>
                    </a:p>
                  </a:txBody>
                  <a:tcPr/>
                </a:tc>
                <a:tc>
                  <a:txBody>
                    <a:bodyPr/>
                    <a:lstStyle/>
                    <a:p>
                      <a:r>
                        <a:t>0862</a:t>
                      </a:r>
                    </a:p>
                  </a:txBody>
                  <a:tcPr/>
                </a:tc>
                <a:tc>
                  <a:txBody>
                    <a:bodyPr/>
                    <a:lstStyle/>
                    <a:p>
                      <a:r>
                        <a:t>2550</a:t>
                      </a:r>
                    </a:p>
                  </a:txBody>
                  <a:tcPr/>
                </a:tc>
              </a:tr>
              <a:tr h="685800">
                <a:tc>
                  <a:txBody>
                    <a:bodyPr/>
                    <a:lstStyle/>
                    <a:p>
                      <a:r>
                        <a:t>2580</a:t>
                      </a:r>
                    </a:p>
                  </a:txBody>
                  <a:tcPr/>
                </a:tc>
                <a:tc>
                  <a:txBody>
                    <a:bodyPr/>
                    <a:lstStyle/>
                    <a:p>
                      <a:r>
                        <a:t>0816</a:t>
                      </a:r>
                    </a:p>
                  </a:txBody>
                  <a:tcPr/>
                </a:tc>
                <a:tc>
                  <a:txBody>
                    <a:bodyPr/>
                    <a:lstStyle/>
                    <a:p>
                      <a:r>
                        <a:t>1337</a:t>
                      </a:r>
                    </a:p>
                  </a:txBody>
                  <a:tcPr/>
                </a:tc>
                <a:tc>
                  <a:txBody>
                    <a:bodyPr/>
                    <a:lstStyle/>
                    <a:p>
                      <a:r>
                        <a:t>4459</a:t>
                      </a:r>
                    </a:p>
                  </a:txBody>
                  <a:tcPr/>
                </a:tc>
                <a:tc>
                  <a:txBody>
                    <a:bodyPr/>
                    <a:lstStyle/>
                    <a:p>
                      <a:r>
                        <a:t>7260</a:t>
                      </a:r>
                    </a:p>
                  </a:txBody>
                  <a:tcPr/>
                </a:tc>
              </a:tr>
              <a:tr h="685800">
                <a:tc>
                  <a:txBody>
                    <a:bodyPr/>
                    <a:lstStyle/>
                    <a:p>
                      <a:r>
                        <a:t>6948</a:t>
                      </a:r>
                    </a:p>
                  </a:txBody>
                  <a:tcPr/>
                </a:tc>
                <a:tc>
                  <a:txBody>
                    <a:bodyPr/>
                    <a:lstStyle/>
                    <a:p>
                      <a:r>
                        <a:t>7958</a:t>
                      </a:r>
                    </a:p>
                  </a:txBody>
                  <a:tcPr/>
                </a:tc>
                <a:tc>
                  <a:txBody>
                    <a:bodyPr/>
                    <a:lstStyle/>
                    <a:p>
                      <a:r>
                        <a:t>9947</a:t>
                      </a:r>
                    </a:p>
                  </a:txBody>
                  <a:tcPr/>
                </a:tc>
                <a:tc>
                  <a:txBody>
                    <a:bodyPr/>
                    <a:lstStyle/>
                    <a:p>
                      <a:r>
                        <a:t>7243</a:t>
                      </a:r>
                    </a:p>
                  </a:txBody>
                  <a:tcPr/>
                </a:tc>
                <a:tc>
                  <a:txBody>
                    <a:bodyPr/>
                    <a:lstStyle/>
                    <a:p>
                      <a:r>
                        <a:t>6786</a:t>
                      </a:r>
                    </a:p>
                  </a:txBody>
                  <a:tcPr/>
                </a:tc>
              </a:tr>
              <a:tr h="685800">
                <a:tc>
                  <a:txBody>
                    <a:bodyPr/>
                    <a:lstStyle/>
                    <a:p>
                      <a:r>
                        <a:t>4476</a:t>
                      </a:r>
                    </a:p>
                  </a:txBody>
                  <a:tcPr/>
                </a:tc>
                <a:tc>
                  <a:txBody>
                    <a:bodyPr/>
                    <a:lstStyle/>
                    <a:p>
                      <a:r>
                        <a:t>3532</a:t>
                      </a:r>
                    </a:p>
                  </a:txBody>
                  <a:tcPr/>
                </a:tc>
                <a:tc>
                  <a:txBody>
                    <a:bodyPr/>
                    <a:lstStyle/>
                    <a:p>
                      <a:r>
                        <a:t>8395</a:t>
                      </a:r>
                    </a:p>
                  </a:txBody>
                  <a:tcPr/>
                </a:tc>
                <a:tc>
                  <a:txBody>
                    <a:bodyPr/>
                    <a:lstStyle/>
                    <a:p>
                      <a:r>
                        <a:t>1865</a:t>
                      </a:r>
                    </a:p>
                  </a:txBody>
                  <a:tcPr/>
                </a:tc>
                <a:tc>
                  <a:txBody>
                    <a:bodyPr/>
                    <a:lstStyle/>
                    <a:p>
                      <a:r>
                        <a:t>5656</a:t>
                      </a:r>
                    </a:p>
                  </a:txBody>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38</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39</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analysis quantile outlier forecast endpoint network sample zone histogram regression sample yield matrix cluster network benchmark outlier analysis pipeline cluster latency throughput outlier throughput network zone workflow outlier kernel dataset network analysis latency forecast variance pipeline zone matrix cluster outlier dataset histogram outlier throughput network regression cluster network kernel latency histogram latency forecast cluster regression workflow dataset regression regression gradient matrix matrix workflow endpoint histogram dataset endpoint iteration gradient forecast variance endpoint workflow cluster forecast workflow quantile pipeline throughput throughput</a:t>
            </a:r>
          </a:p>
          <a:p>
            <a:pPr algn="l">
              <a:defRPr sz="1200"/>
            </a:pPr>
            <a:r>
              <a:t>pipeline yield throughput workflow workflow variance latency workflow latency endpoint pipeline cluster quantile pipeline workflow kernel iteration throughput benchmark matrix regression cluster kernel pipeline pipeline benchmark benchmark matrix kernel cluster workflow cluster variance variance regression network pipeline throughput sample benchmark pipeline throughput workflow gradient latency variance quantile regression endpoint benchmark pipeline dataset latency zone cluster regression workflow forecast benchmark histogram</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40</a:t>
            </a:r>
          </a:p>
        </p:txBody>
      </p:sp>
      <p:sp>
        <p:nvSpPr>
          <p:cNvPr id="3" name="Content Placeholder 2"/>
          <p:cNvSpPr>
            <a:spLocks noGrp="1"/>
          </p:cNvSpPr>
          <p:nvPr>
            <p:ph idx="1"/>
          </p:nvPr>
        </p:nvSpPr>
        <p:spPr/>
        <p:txBody>
          <a:bodyPr/>
          <a:lstStyle/>
          <a:p>
            <a:pPr/>
            <a:r>
              <a:t>Point 1: zone pipeline pipeline regression regression variance forecast matrix</a:t>
            </a:r>
          </a:p>
          <a:p>
            <a:pPr lvl="1"/>
            <a:r>
              <a:t>Point 2: matrix kernel network outlier latency yield variance benchmark</a:t>
            </a:r>
          </a:p>
          <a:p>
            <a:pPr lvl="2"/>
            <a:r>
              <a:t>Point 3: workflow workflow latency cluster latency dataset sample yield</a:t>
            </a:r>
          </a:p>
          <a:p>
            <a:pPr/>
            <a:r>
              <a:t>Point 4: network kernel iteration yield variance endpoint latency cluster</a:t>
            </a:r>
          </a:p>
          <a:p>
            <a:pPr lvl="1"/>
            <a:r>
              <a:t>Point 5: throughput yield endpoint matrix kernel workflow zone yield</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41</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42</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2113</a:t>
                      </a:r>
                    </a:p>
                  </a:txBody>
                  <a:tcPr/>
                </a:tc>
                <a:tc>
                  <a:txBody>
                    <a:bodyPr/>
                    <a:lstStyle/>
                    <a:p>
                      <a:r>
                        <a:t>9750</a:t>
                      </a:r>
                    </a:p>
                  </a:txBody>
                  <a:tcPr/>
                </a:tc>
                <a:tc>
                  <a:txBody>
                    <a:bodyPr/>
                    <a:lstStyle/>
                    <a:p>
                      <a:r>
                        <a:t>1389</a:t>
                      </a:r>
                    </a:p>
                  </a:txBody>
                  <a:tcPr/>
                </a:tc>
                <a:tc>
                  <a:txBody>
                    <a:bodyPr/>
                    <a:lstStyle/>
                    <a:p>
                      <a:r>
                        <a:t>5073</a:t>
                      </a:r>
                    </a:p>
                  </a:txBody>
                  <a:tcPr/>
                </a:tc>
                <a:tc>
                  <a:txBody>
                    <a:bodyPr/>
                    <a:lstStyle/>
                    <a:p>
                      <a:r>
                        <a:t>9158</a:t>
                      </a:r>
                    </a:p>
                  </a:txBody>
                  <a:tcPr/>
                </a:tc>
              </a:tr>
              <a:tr h="685800">
                <a:tc>
                  <a:txBody>
                    <a:bodyPr/>
                    <a:lstStyle/>
                    <a:p>
                      <a:r>
                        <a:t>6172</a:t>
                      </a:r>
                    </a:p>
                  </a:txBody>
                  <a:tcPr/>
                </a:tc>
                <a:tc>
                  <a:txBody>
                    <a:bodyPr/>
                    <a:lstStyle/>
                    <a:p>
                      <a:r>
                        <a:t>5382</a:t>
                      </a:r>
                    </a:p>
                  </a:txBody>
                  <a:tcPr/>
                </a:tc>
                <a:tc>
                  <a:txBody>
                    <a:bodyPr/>
                    <a:lstStyle/>
                    <a:p>
                      <a:r>
                        <a:t>2094</a:t>
                      </a:r>
                    </a:p>
                  </a:txBody>
                  <a:tcPr/>
                </a:tc>
                <a:tc>
                  <a:txBody>
                    <a:bodyPr/>
                    <a:lstStyle/>
                    <a:p>
                      <a:r>
                        <a:t>8625</a:t>
                      </a:r>
                    </a:p>
                  </a:txBody>
                  <a:tcPr/>
                </a:tc>
                <a:tc>
                  <a:txBody>
                    <a:bodyPr/>
                    <a:lstStyle/>
                    <a:p>
                      <a:r>
                        <a:t>1532</a:t>
                      </a:r>
                    </a:p>
                  </a:txBody>
                  <a:tcPr/>
                </a:tc>
              </a:tr>
              <a:tr h="685800">
                <a:tc>
                  <a:txBody>
                    <a:bodyPr/>
                    <a:lstStyle/>
                    <a:p>
                      <a:r>
                        <a:t>6938</a:t>
                      </a:r>
                    </a:p>
                  </a:txBody>
                  <a:tcPr/>
                </a:tc>
                <a:tc>
                  <a:txBody>
                    <a:bodyPr/>
                    <a:lstStyle/>
                    <a:p>
                      <a:r>
                        <a:t>8332</a:t>
                      </a:r>
                    </a:p>
                  </a:txBody>
                  <a:tcPr/>
                </a:tc>
                <a:tc>
                  <a:txBody>
                    <a:bodyPr/>
                    <a:lstStyle/>
                    <a:p>
                      <a:r>
                        <a:t>5929</a:t>
                      </a:r>
                    </a:p>
                  </a:txBody>
                  <a:tcPr/>
                </a:tc>
                <a:tc>
                  <a:txBody>
                    <a:bodyPr/>
                    <a:lstStyle/>
                    <a:p>
                      <a:r>
                        <a:t>0299</a:t>
                      </a:r>
                    </a:p>
                  </a:txBody>
                  <a:tcPr/>
                </a:tc>
                <a:tc>
                  <a:txBody>
                    <a:bodyPr/>
                    <a:lstStyle/>
                    <a:p>
                      <a:r>
                        <a:t>5941</a:t>
                      </a:r>
                    </a:p>
                  </a:txBody>
                  <a:tcPr/>
                </a:tc>
              </a:tr>
              <a:tr h="685800">
                <a:tc>
                  <a:txBody>
                    <a:bodyPr/>
                    <a:lstStyle/>
                    <a:p>
                      <a:r>
                        <a:t>5061</a:t>
                      </a:r>
                    </a:p>
                  </a:txBody>
                  <a:tcPr/>
                </a:tc>
                <a:tc>
                  <a:txBody>
                    <a:bodyPr/>
                    <a:lstStyle/>
                    <a:p>
                      <a:r>
                        <a:t>2954</a:t>
                      </a:r>
                    </a:p>
                  </a:txBody>
                  <a:tcPr/>
                </a:tc>
                <a:tc>
                  <a:txBody>
                    <a:bodyPr/>
                    <a:lstStyle/>
                    <a:p>
                      <a:r>
                        <a:t>3510</a:t>
                      </a:r>
                    </a:p>
                  </a:txBody>
                  <a:tcPr/>
                </a:tc>
                <a:tc>
                  <a:txBody>
                    <a:bodyPr/>
                    <a:lstStyle/>
                    <a:p>
                      <a:r>
                        <a:t>5599</a:t>
                      </a:r>
                    </a:p>
                  </a:txBody>
                  <a:tcPr/>
                </a:tc>
                <a:tc>
                  <a:txBody>
                    <a:bodyPr/>
                    <a:lstStyle/>
                    <a:p>
                      <a:r>
                        <a:t>7968</a:t>
                      </a:r>
                    </a:p>
                  </a:txBody>
                  <a:tcPr/>
                </a:tc>
              </a:tr>
              <a:tr h="685800">
                <a:tc>
                  <a:txBody>
                    <a:bodyPr/>
                    <a:lstStyle/>
                    <a:p>
                      <a:r>
                        <a:t>3146</a:t>
                      </a:r>
                    </a:p>
                  </a:txBody>
                  <a:tcPr/>
                </a:tc>
                <a:tc>
                  <a:txBody>
                    <a:bodyPr/>
                    <a:lstStyle/>
                    <a:p>
                      <a:r>
                        <a:t>3712</a:t>
                      </a:r>
                    </a:p>
                  </a:txBody>
                  <a:tcPr/>
                </a:tc>
                <a:tc>
                  <a:txBody>
                    <a:bodyPr/>
                    <a:lstStyle/>
                    <a:p>
                      <a:r>
                        <a:t>2254</a:t>
                      </a:r>
                    </a:p>
                  </a:txBody>
                  <a:tcPr/>
                </a:tc>
                <a:tc>
                  <a:txBody>
                    <a:bodyPr/>
                    <a:lstStyle/>
                    <a:p>
                      <a:r>
                        <a:t>2539</a:t>
                      </a:r>
                    </a:p>
                  </a:txBody>
                  <a:tcPr/>
                </a:tc>
                <a:tc>
                  <a:txBody>
                    <a:bodyPr/>
                    <a:lstStyle/>
                    <a:p>
                      <a:r>
                        <a:t>1265</a:t>
                      </a:r>
                    </a:p>
                  </a:txBody>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43</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44</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pipeline variance kernel pipeline histogram sample histogram kernel quantile gradient matrix yield throughput pipeline pipeline kernel network regression regression outlier forecast gradient variance endpoint iteration benchmark workflow quantile matrix sample dataset zone regression dataset kernel cluster forecast iteration pipeline regression endpoint outlier cluster histogram pipeline matrix analysis outlier benchmark network regression matrix histogram network cluster matrix histogram analysis latency dataset zone workflow latency endpoint endpoint benchmark kernel quantile zone endpoint zone quantile pipeline variance analysis cluster analysis iteration gradient endpoint</a:t>
            </a:r>
          </a:p>
          <a:p>
            <a:pPr algn="l">
              <a:defRPr sz="1200"/>
            </a:pPr>
            <a:r>
              <a:t>sample variance regression outlier dataset kernel histogram kernel dataset benchmark histogram outlier workflow variance pipeline cluster dataset quantile variance sample analysis workflow regression throughput histogram zone endpoint kernel outlier analysis variance matrix histogram throughput outlier forecast yield yield cluster regression matrix cluster regression sample regression regression sample analysis network quantile benchmark workflow network matrix iteration analysis matrix cluster matrix histogram</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45</a:t>
            </a:r>
          </a:p>
        </p:txBody>
      </p:sp>
      <p:sp>
        <p:nvSpPr>
          <p:cNvPr id="3" name="Content Placeholder 2"/>
          <p:cNvSpPr>
            <a:spLocks noGrp="1"/>
          </p:cNvSpPr>
          <p:nvPr>
            <p:ph idx="1"/>
          </p:nvPr>
        </p:nvSpPr>
        <p:spPr/>
        <p:txBody>
          <a:bodyPr/>
          <a:lstStyle/>
          <a:p>
            <a:pPr/>
            <a:r>
              <a:t>Point 1: yield workflow dataset throughput latency endpoint benchmark matrix</a:t>
            </a:r>
          </a:p>
          <a:p>
            <a:pPr lvl="1"/>
            <a:r>
              <a:t>Point 2: sample latency workflow forecast yield pipeline zone quantile</a:t>
            </a:r>
          </a:p>
          <a:p>
            <a:pPr lvl="2"/>
            <a:r>
              <a:t>Point 3: workflow forecast endpoint cluster zone pipeline benchmark kernel</a:t>
            </a:r>
          </a:p>
          <a:p>
            <a:pPr/>
            <a:r>
              <a:t>Point 4: gradient benchmark gradient benchmark latency kernel regression network</a:t>
            </a:r>
          </a:p>
          <a:p>
            <a:pPr lvl="1"/>
            <a:r>
              <a:t>Point 5: sample quantile iteration benchmark workflow gradient kernel matrix</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46</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47</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5439</a:t>
                      </a:r>
                    </a:p>
                  </a:txBody>
                  <a:tcPr/>
                </a:tc>
                <a:tc>
                  <a:txBody>
                    <a:bodyPr/>
                    <a:lstStyle/>
                    <a:p>
                      <a:r>
                        <a:t>4477</a:t>
                      </a:r>
                    </a:p>
                  </a:txBody>
                  <a:tcPr/>
                </a:tc>
                <a:tc>
                  <a:txBody>
                    <a:bodyPr/>
                    <a:lstStyle/>
                    <a:p>
                      <a:r>
                        <a:t>2040</a:t>
                      </a:r>
                    </a:p>
                  </a:txBody>
                  <a:tcPr/>
                </a:tc>
                <a:tc>
                  <a:txBody>
                    <a:bodyPr/>
                    <a:lstStyle/>
                    <a:p>
                      <a:r>
                        <a:t>6030</a:t>
                      </a:r>
                    </a:p>
                  </a:txBody>
                  <a:tcPr/>
                </a:tc>
                <a:tc>
                  <a:txBody>
                    <a:bodyPr/>
                    <a:lstStyle/>
                    <a:p>
                      <a:r>
                        <a:t>7160</a:t>
                      </a:r>
                    </a:p>
                  </a:txBody>
                  <a:tcPr/>
                </a:tc>
              </a:tr>
              <a:tr h="685800">
                <a:tc>
                  <a:txBody>
                    <a:bodyPr/>
                    <a:lstStyle/>
                    <a:p>
                      <a:r>
                        <a:t>6554</a:t>
                      </a:r>
                    </a:p>
                  </a:txBody>
                  <a:tcPr/>
                </a:tc>
                <a:tc>
                  <a:txBody>
                    <a:bodyPr/>
                    <a:lstStyle/>
                    <a:p>
                      <a:r>
                        <a:t>7205</a:t>
                      </a:r>
                    </a:p>
                  </a:txBody>
                  <a:tcPr/>
                </a:tc>
                <a:tc>
                  <a:txBody>
                    <a:bodyPr/>
                    <a:lstStyle/>
                    <a:p>
                      <a:r>
                        <a:t>6335</a:t>
                      </a:r>
                    </a:p>
                  </a:txBody>
                  <a:tcPr/>
                </a:tc>
                <a:tc>
                  <a:txBody>
                    <a:bodyPr/>
                    <a:lstStyle/>
                    <a:p>
                      <a:r>
                        <a:t>5555</a:t>
                      </a:r>
                    </a:p>
                  </a:txBody>
                  <a:tcPr/>
                </a:tc>
                <a:tc>
                  <a:txBody>
                    <a:bodyPr/>
                    <a:lstStyle/>
                    <a:p>
                      <a:r>
                        <a:t>3061</a:t>
                      </a:r>
                    </a:p>
                  </a:txBody>
                  <a:tcPr/>
                </a:tc>
              </a:tr>
              <a:tr h="685800">
                <a:tc>
                  <a:txBody>
                    <a:bodyPr/>
                    <a:lstStyle/>
                    <a:p>
                      <a:r>
                        <a:t>8130</a:t>
                      </a:r>
                    </a:p>
                  </a:txBody>
                  <a:tcPr/>
                </a:tc>
                <a:tc>
                  <a:txBody>
                    <a:bodyPr/>
                    <a:lstStyle/>
                    <a:p>
                      <a:r>
                        <a:t>8152</a:t>
                      </a:r>
                    </a:p>
                  </a:txBody>
                  <a:tcPr/>
                </a:tc>
                <a:tc>
                  <a:txBody>
                    <a:bodyPr/>
                    <a:lstStyle/>
                    <a:p>
                      <a:r>
                        <a:t>6019</a:t>
                      </a:r>
                    </a:p>
                  </a:txBody>
                  <a:tcPr/>
                </a:tc>
                <a:tc>
                  <a:txBody>
                    <a:bodyPr/>
                    <a:lstStyle/>
                    <a:p>
                      <a:r>
                        <a:t>8508</a:t>
                      </a:r>
                    </a:p>
                  </a:txBody>
                  <a:tcPr/>
                </a:tc>
                <a:tc>
                  <a:txBody>
                    <a:bodyPr/>
                    <a:lstStyle/>
                    <a:p>
                      <a:r>
                        <a:t>4370</a:t>
                      </a:r>
                    </a:p>
                  </a:txBody>
                  <a:tcPr/>
                </a:tc>
              </a:tr>
              <a:tr h="685800">
                <a:tc>
                  <a:txBody>
                    <a:bodyPr/>
                    <a:lstStyle/>
                    <a:p>
                      <a:r>
                        <a:t>1354</a:t>
                      </a:r>
                    </a:p>
                  </a:txBody>
                  <a:tcPr/>
                </a:tc>
                <a:tc>
                  <a:txBody>
                    <a:bodyPr/>
                    <a:lstStyle/>
                    <a:p>
                      <a:r>
                        <a:t>6956</a:t>
                      </a:r>
                    </a:p>
                  </a:txBody>
                  <a:tcPr/>
                </a:tc>
                <a:tc>
                  <a:txBody>
                    <a:bodyPr/>
                    <a:lstStyle/>
                    <a:p>
                      <a:r>
                        <a:t>1294</a:t>
                      </a:r>
                    </a:p>
                  </a:txBody>
                  <a:tcPr/>
                </a:tc>
                <a:tc>
                  <a:txBody>
                    <a:bodyPr/>
                    <a:lstStyle/>
                    <a:p>
                      <a:r>
                        <a:t>7056</a:t>
                      </a:r>
                    </a:p>
                  </a:txBody>
                  <a:tcPr/>
                </a:tc>
                <a:tc>
                  <a:txBody>
                    <a:bodyPr/>
                    <a:lstStyle/>
                    <a:p>
                      <a:r>
                        <a:t>9871</a:t>
                      </a:r>
                    </a:p>
                  </a:txBody>
                  <a:tcPr/>
                </a:tc>
              </a:tr>
              <a:tr h="685800">
                <a:tc>
                  <a:txBody>
                    <a:bodyPr/>
                    <a:lstStyle/>
                    <a:p>
                      <a:r>
                        <a:t>2957</a:t>
                      </a:r>
                    </a:p>
                  </a:txBody>
                  <a:tcPr/>
                </a:tc>
                <a:tc>
                  <a:txBody>
                    <a:bodyPr/>
                    <a:lstStyle/>
                    <a:p>
                      <a:r>
                        <a:t>8938</a:t>
                      </a:r>
                    </a:p>
                  </a:txBody>
                  <a:tcPr/>
                </a:tc>
                <a:tc>
                  <a:txBody>
                    <a:bodyPr/>
                    <a:lstStyle/>
                    <a:p>
                      <a:r>
                        <a:t>4814</a:t>
                      </a:r>
                    </a:p>
                  </a:txBody>
                  <a:tcPr/>
                </a:tc>
                <a:tc>
                  <a:txBody>
                    <a:bodyPr/>
                    <a:lstStyle/>
                    <a:p>
                      <a:r>
                        <a:t>5263</a:t>
                      </a:r>
                    </a:p>
                  </a:txBody>
                  <a:tcPr/>
                </a:tc>
                <a:tc>
                  <a:txBody>
                    <a:bodyPr/>
                    <a:lstStyle/>
                    <a:p>
                      <a:r>
                        <a:t>1681</a:t>
                      </a:r>
                    </a:p>
                  </a:txBody>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48</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49</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matrix regression yield forecast analysis endpoint variance yield pipeline benchmark endpoint cluster histogram workflow matrix matrix network throughput benchmark variance endpoint yield pipeline matrix matrix pipeline cluster throughput endpoint regression matrix network latency workflow iteration histogram dataset analysis forecast quantile regression network sample dataset iteration iteration zone pipeline gradient variance kernel zone quantile gradient dataset endpoint cluster pipeline forecast zone pipeline cluster yield latency yield matrix zone cluster sample sample kernel kernel forecast zone zone zone workflow forecast matrix regression</a:t>
            </a:r>
          </a:p>
          <a:p>
            <a:pPr algn="l">
              <a:defRPr sz="1200"/>
            </a:pPr>
            <a:r>
              <a:t>histogram dataset gradient endpoint histogram quantile analysis matrix sample throughput matrix pipeline sample endpoint variance cluster cluster kernel network zone quantile regression outlier outlier throughput cluster endpoint latency workflow cluster pipeline pipeline yield regression matrix endpoint sample workflow throughput forecast endpoint outlier regression benchmark dataset regression endpoint kernel forecast forecast latency zone histogram matrix regression kernel cluster iteration gradient workflow</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50</a:t>
            </a:r>
          </a:p>
        </p:txBody>
      </p:sp>
      <p:sp>
        <p:nvSpPr>
          <p:cNvPr id="3" name="Content Placeholder 2"/>
          <p:cNvSpPr>
            <a:spLocks noGrp="1"/>
          </p:cNvSpPr>
          <p:nvPr>
            <p:ph idx="1"/>
          </p:nvPr>
        </p:nvSpPr>
        <p:spPr/>
        <p:txBody>
          <a:bodyPr/>
          <a:lstStyle/>
          <a:p>
            <a:pPr/>
            <a:r>
              <a:t>Point 1: sample iteration endpoint workflow kernel variance sample cluster</a:t>
            </a:r>
          </a:p>
          <a:p>
            <a:pPr lvl="1"/>
            <a:r>
              <a:t>Point 2: regression workflow forecast throughput throughput endpoint forecast yield</a:t>
            </a:r>
          </a:p>
          <a:p>
            <a:pPr lvl="2"/>
            <a:r>
              <a:t>Point 3: variance variance latency throughput benchmark analysis cluster benchmark</a:t>
            </a:r>
          </a:p>
          <a:p>
            <a:pPr/>
            <a:r>
              <a:t>Point 4: workflow throughput iteration workflow gradient throughput outlier variance</a:t>
            </a:r>
          </a:p>
          <a:p>
            <a:pPr lvl="1"/>
            <a:r>
              <a:t>Point 5: workflow analysis quantile workflow sample kernel workflow kernel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51</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52</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4013</a:t>
                      </a:r>
                    </a:p>
                  </a:txBody>
                  <a:tcPr/>
                </a:tc>
                <a:tc>
                  <a:txBody>
                    <a:bodyPr/>
                    <a:lstStyle/>
                    <a:p>
                      <a:r>
                        <a:t>6654</a:t>
                      </a:r>
                    </a:p>
                  </a:txBody>
                  <a:tcPr/>
                </a:tc>
                <a:tc>
                  <a:txBody>
                    <a:bodyPr/>
                    <a:lstStyle/>
                    <a:p>
                      <a:r>
                        <a:t>4874</a:t>
                      </a:r>
                    </a:p>
                  </a:txBody>
                  <a:tcPr/>
                </a:tc>
                <a:tc>
                  <a:txBody>
                    <a:bodyPr/>
                    <a:lstStyle/>
                    <a:p>
                      <a:r>
                        <a:t>7431</a:t>
                      </a:r>
                    </a:p>
                  </a:txBody>
                  <a:tcPr/>
                </a:tc>
                <a:tc>
                  <a:txBody>
                    <a:bodyPr/>
                    <a:lstStyle/>
                    <a:p>
                      <a:r>
                        <a:t>1196</a:t>
                      </a:r>
                    </a:p>
                  </a:txBody>
                  <a:tcPr/>
                </a:tc>
              </a:tr>
              <a:tr h="685800">
                <a:tc>
                  <a:txBody>
                    <a:bodyPr/>
                    <a:lstStyle/>
                    <a:p>
                      <a:r>
                        <a:t>0982</a:t>
                      </a:r>
                    </a:p>
                  </a:txBody>
                  <a:tcPr/>
                </a:tc>
                <a:tc>
                  <a:txBody>
                    <a:bodyPr/>
                    <a:lstStyle/>
                    <a:p>
                      <a:r>
                        <a:t>2590</a:t>
                      </a:r>
                    </a:p>
                  </a:txBody>
                  <a:tcPr/>
                </a:tc>
                <a:tc>
                  <a:txBody>
                    <a:bodyPr/>
                    <a:lstStyle/>
                    <a:p>
                      <a:r>
                        <a:t>7203</a:t>
                      </a:r>
                    </a:p>
                  </a:txBody>
                  <a:tcPr/>
                </a:tc>
                <a:tc>
                  <a:txBody>
                    <a:bodyPr/>
                    <a:lstStyle/>
                    <a:p>
                      <a:r>
                        <a:t>6810</a:t>
                      </a:r>
                    </a:p>
                  </a:txBody>
                  <a:tcPr/>
                </a:tc>
                <a:tc>
                  <a:txBody>
                    <a:bodyPr/>
                    <a:lstStyle/>
                    <a:p>
                      <a:r>
                        <a:t>7934</a:t>
                      </a:r>
                    </a:p>
                  </a:txBody>
                  <a:tcPr/>
                </a:tc>
              </a:tr>
              <a:tr h="685800">
                <a:tc>
                  <a:txBody>
                    <a:bodyPr/>
                    <a:lstStyle/>
                    <a:p>
                      <a:r>
                        <a:t>7610</a:t>
                      </a:r>
                    </a:p>
                  </a:txBody>
                  <a:tcPr/>
                </a:tc>
                <a:tc>
                  <a:txBody>
                    <a:bodyPr/>
                    <a:lstStyle/>
                    <a:p>
                      <a:r>
                        <a:t>3343</a:t>
                      </a:r>
                    </a:p>
                  </a:txBody>
                  <a:tcPr/>
                </a:tc>
                <a:tc>
                  <a:txBody>
                    <a:bodyPr/>
                    <a:lstStyle/>
                    <a:p>
                      <a:r>
                        <a:t>5574</a:t>
                      </a:r>
                    </a:p>
                  </a:txBody>
                  <a:tcPr/>
                </a:tc>
                <a:tc>
                  <a:txBody>
                    <a:bodyPr/>
                    <a:lstStyle/>
                    <a:p>
                      <a:r>
                        <a:t>9940</a:t>
                      </a:r>
                    </a:p>
                  </a:txBody>
                  <a:tcPr/>
                </a:tc>
                <a:tc>
                  <a:txBody>
                    <a:bodyPr/>
                    <a:lstStyle/>
                    <a:p>
                      <a:r>
                        <a:t>2354</a:t>
                      </a:r>
                    </a:p>
                  </a:txBody>
                  <a:tcPr/>
                </a:tc>
              </a:tr>
              <a:tr h="685800">
                <a:tc>
                  <a:txBody>
                    <a:bodyPr/>
                    <a:lstStyle/>
                    <a:p>
                      <a:r>
                        <a:t>5122</a:t>
                      </a:r>
                    </a:p>
                  </a:txBody>
                  <a:tcPr/>
                </a:tc>
                <a:tc>
                  <a:txBody>
                    <a:bodyPr/>
                    <a:lstStyle/>
                    <a:p>
                      <a:r>
                        <a:t>5232</a:t>
                      </a:r>
                    </a:p>
                  </a:txBody>
                  <a:tcPr/>
                </a:tc>
                <a:tc>
                  <a:txBody>
                    <a:bodyPr/>
                    <a:lstStyle/>
                    <a:p>
                      <a:r>
                        <a:t>5659</a:t>
                      </a:r>
                    </a:p>
                  </a:txBody>
                  <a:tcPr/>
                </a:tc>
                <a:tc>
                  <a:txBody>
                    <a:bodyPr/>
                    <a:lstStyle/>
                    <a:p>
                      <a:r>
                        <a:t>6533</a:t>
                      </a:r>
                    </a:p>
                  </a:txBody>
                  <a:tcPr/>
                </a:tc>
                <a:tc>
                  <a:txBody>
                    <a:bodyPr/>
                    <a:lstStyle/>
                    <a:p>
                      <a:r>
                        <a:t>2143</a:t>
                      </a:r>
                    </a:p>
                  </a:txBody>
                  <a:tcPr/>
                </a:tc>
              </a:tr>
              <a:tr h="685800">
                <a:tc>
                  <a:txBody>
                    <a:bodyPr/>
                    <a:lstStyle/>
                    <a:p>
                      <a:r>
                        <a:t>6071</a:t>
                      </a:r>
                    </a:p>
                  </a:txBody>
                  <a:tcPr/>
                </a:tc>
                <a:tc>
                  <a:txBody>
                    <a:bodyPr/>
                    <a:lstStyle/>
                    <a:p>
                      <a:r>
                        <a:t>8438</a:t>
                      </a:r>
                    </a:p>
                  </a:txBody>
                  <a:tcPr/>
                </a:tc>
                <a:tc>
                  <a:txBody>
                    <a:bodyPr/>
                    <a:lstStyle/>
                    <a:p>
                      <a:r>
                        <a:t>9203</a:t>
                      </a:r>
                    </a:p>
                  </a:txBody>
                  <a:tcPr/>
                </a:tc>
                <a:tc>
                  <a:txBody>
                    <a:bodyPr/>
                    <a:lstStyle/>
                    <a:p>
                      <a:r>
                        <a:t>1740</a:t>
                      </a:r>
                    </a:p>
                  </a:txBody>
                  <a:tcPr/>
                </a:tc>
                <a:tc>
                  <a:txBody>
                    <a:bodyPr/>
                    <a:lstStyle/>
                    <a:p>
                      <a:r>
                        <a:t>5229</a:t>
                      </a:r>
                    </a:p>
                  </a:txBody>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53</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54</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kernel quantile analysis cluster network regression pipeline histogram gradient throughput matrix benchmark benchmark kernel quantile variance workflow yield quantile kernel sample analysis dataset outlier endpoint iteration matrix network matrix benchmark network benchmark throughput sample gradient matrix sample kernel cluster network regression pipeline sample iteration variance yield variance dataset endpoint dataset network matrix latency sample matrix endpoint gradient variance regression network regression benchmark benchmark benchmark endpoint zone latency quantile regression pipeline endpoint variance regression endpoint latency variance latency forecast network variance</a:t>
            </a:r>
          </a:p>
          <a:p>
            <a:pPr algn="l">
              <a:defRPr sz="1200"/>
            </a:pPr>
            <a:r>
              <a:t>kernel throughput latency regression regression sample quantile zone throughput kernel quantile analysis matrix latency yield dataset outlier throughput kernel zone workflow analysis variance quantile iteration workflow throughput throughput histogram benchmark throughput quantile forecast regression workflow variance network endpoint yield histogram benchmark throughput zone dataset gradient analysis pipeline latency outlier endpoint outlier zone gradient outlier regression variance quantile benchmark zone endpoint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55</a:t>
            </a:r>
          </a:p>
        </p:txBody>
      </p:sp>
      <p:sp>
        <p:nvSpPr>
          <p:cNvPr id="3" name="Content Placeholder 2"/>
          <p:cNvSpPr>
            <a:spLocks noGrp="1"/>
          </p:cNvSpPr>
          <p:nvPr>
            <p:ph idx="1"/>
          </p:nvPr>
        </p:nvSpPr>
        <p:spPr/>
        <p:txBody>
          <a:bodyPr/>
          <a:lstStyle/>
          <a:p>
            <a:pPr/>
            <a:r>
              <a:t>Point 1: regression gradient sample latency yield quantile regression network</a:t>
            </a:r>
          </a:p>
          <a:p>
            <a:pPr lvl="1"/>
            <a:r>
              <a:t>Point 2: latency forecast pipeline sample latency sample matrix yield</a:t>
            </a:r>
          </a:p>
          <a:p>
            <a:pPr lvl="2"/>
            <a:r>
              <a:t>Point 3: yield workflow zone iteration variance quantile gradient histogram</a:t>
            </a:r>
          </a:p>
          <a:p>
            <a:pPr/>
            <a:r>
              <a:t>Point 4: iteration sample kernel histogram kernel kernel zone gradient</a:t>
            </a:r>
          </a:p>
          <a:p>
            <a:pPr lvl="1"/>
            <a:r>
              <a:t>Point 5: zone zone quantile latency quantile matrix sample iteration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56</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57</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1997</a:t>
                      </a:r>
                    </a:p>
                  </a:txBody>
                  <a:tcPr/>
                </a:tc>
                <a:tc>
                  <a:txBody>
                    <a:bodyPr/>
                    <a:lstStyle/>
                    <a:p>
                      <a:r>
                        <a:t>9396</a:t>
                      </a:r>
                    </a:p>
                  </a:txBody>
                  <a:tcPr/>
                </a:tc>
                <a:tc>
                  <a:txBody>
                    <a:bodyPr/>
                    <a:lstStyle/>
                    <a:p>
                      <a:r>
                        <a:t>8900</a:t>
                      </a:r>
                    </a:p>
                  </a:txBody>
                  <a:tcPr/>
                </a:tc>
                <a:tc>
                  <a:txBody>
                    <a:bodyPr/>
                    <a:lstStyle/>
                    <a:p>
                      <a:r>
                        <a:t>6221</a:t>
                      </a:r>
                    </a:p>
                  </a:txBody>
                  <a:tcPr/>
                </a:tc>
                <a:tc>
                  <a:txBody>
                    <a:bodyPr/>
                    <a:lstStyle/>
                    <a:p>
                      <a:r>
                        <a:t>6465</a:t>
                      </a:r>
                    </a:p>
                  </a:txBody>
                  <a:tcPr/>
                </a:tc>
              </a:tr>
              <a:tr h="685800">
                <a:tc>
                  <a:txBody>
                    <a:bodyPr/>
                    <a:lstStyle/>
                    <a:p>
                      <a:r>
                        <a:t>5655</a:t>
                      </a:r>
                    </a:p>
                  </a:txBody>
                  <a:tcPr/>
                </a:tc>
                <a:tc>
                  <a:txBody>
                    <a:bodyPr/>
                    <a:lstStyle/>
                    <a:p>
                      <a:r>
                        <a:t>2400</a:t>
                      </a:r>
                    </a:p>
                  </a:txBody>
                  <a:tcPr/>
                </a:tc>
                <a:tc>
                  <a:txBody>
                    <a:bodyPr/>
                    <a:lstStyle/>
                    <a:p>
                      <a:r>
                        <a:t>4759</a:t>
                      </a:r>
                    </a:p>
                  </a:txBody>
                  <a:tcPr/>
                </a:tc>
                <a:tc>
                  <a:txBody>
                    <a:bodyPr/>
                    <a:lstStyle/>
                    <a:p>
                      <a:r>
                        <a:t>0690</a:t>
                      </a:r>
                    </a:p>
                  </a:txBody>
                  <a:tcPr/>
                </a:tc>
                <a:tc>
                  <a:txBody>
                    <a:bodyPr/>
                    <a:lstStyle/>
                    <a:p>
                      <a:r>
                        <a:t>4713</a:t>
                      </a:r>
                    </a:p>
                  </a:txBody>
                  <a:tcPr/>
                </a:tc>
              </a:tr>
              <a:tr h="685800">
                <a:tc>
                  <a:txBody>
                    <a:bodyPr/>
                    <a:lstStyle/>
                    <a:p>
                      <a:r>
                        <a:t>1295</a:t>
                      </a:r>
                    </a:p>
                  </a:txBody>
                  <a:tcPr/>
                </a:tc>
                <a:tc>
                  <a:txBody>
                    <a:bodyPr/>
                    <a:lstStyle/>
                    <a:p>
                      <a:r>
                        <a:t>5675</a:t>
                      </a:r>
                    </a:p>
                  </a:txBody>
                  <a:tcPr/>
                </a:tc>
                <a:tc>
                  <a:txBody>
                    <a:bodyPr/>
                    <a:lstStyle/>
                    <a:p>
                      <a:r>
                        <a:t>7248</a:t>
                      </a:r>
                    </a:p>
                  </a:txBody>
                  <a:tcPr/>
                </a:tc>
                <a:tc>
                  <a:txBody>
                    <a:bodyPr/>
                    <a:lstStyle/>
                    <a:p>
                      <a:r>
                        <a:t>4202</a:t>
                      </a:r>
                    </a:p>
                  </a:txBody>
                  <a:tcPr/>
                </a:tc>
                <a:tc>
                  <a:txBody>
                    <a:bodyPr/>
                    <a:lstStyle/>
                    <a:p>
                      <a:r>
                        <a:t>7850</a:t>
                      </a:r>
                    </a:p>
                  </a:txBody>
                  <a:tcPr/>
                </a:tc>
              </a:tr>
              <a:tr h="685800">
                <a:tc>
                  <a:txBody>
                    <a:bodyPr/>
                    <a:lstStyle/>
                    <a:p>
                      <a:r>
                        <a:t>3506</a:t>
                      </a:r>
                    </a:p>
                  </a:txBody>
                  <a:tcPr/>
                </a:tc>
                <a:tc>
                  <a:txBody>
                    <a:bodyPr/>
                    <a:lstStyle/>
                    <a:p>
                      <a:r>
                        <a:t>3311</a:t>
                      </a:r>
                    </a:p>
                  </a:txBody>
                  <a:tcPr/>
                </a:tc>
                <a:tc>
                  <a:txBody>
                    <a:bodyPr/>
                    <a:lstStyle/>
                    <a:p>
                      <a:r>
                        <a:t>8825</a:t>
                      </a:r>
                    </a:p>
                  </a:txBody>
                  <a:tcPr/>
                </a:tc>
                <a:tc>
                  <a:txBody>
                    <a:bodyPr/>
                    <a:lstStyle/>
                    <a:p>
                      <a:r>
                        <a:t>4443</a:t>
                      </a:r>
                    </a:p>
                  </a:txBody>
                  <a:tcPr/>
                </a:tc>
                <a:tc>
                  <a:txBody>
                    <a:bodyPr/>
                    <a:lstStyle/>
                    <a:p>
                      <a:r>
                        <a:t>9209</a:t>
                      </a:r>
                    </a:p>
                  </a:txBody>
                  <a:tcPr/>
                </a:tc>
              </a:tr>
              <a:tr h="685800">
                <a:tc>
                  <a:txBody>
                    <a:bodyPr/>
                    <a:lstStyle/>
                    <a:p>
                      <a:r>
                        <a:t>4451</a:t>
                      </a:r>
                    </a:p>
                  </a:txBody>
                  <a:tcPr/>
                </a:tc>
                <a:tc>
                  <a:txBody>
                    <a:bodyPr/>
                    <a:lstStyle/>
                    <a:p>
                      <a:r>
                        <a:t>2250</a:t>
                      </a:r>
                    </a:p>
                  </a:txBody>
                  <a:tcPr/>
                </a:tc>
                <a:tc>
                  <a:txBody>
                    <a:bodyPr/>
                    <a:lstStyle/>
                    <a:p>
                      <a:r>
                        <a:t>1790</a:t>
                      </a:r>
                    </a:p>
                  </a:txBody>
                  <a:tcPr/>
                </a:tc>
                <a:tc>
                  <a:txBody>
                    <a:bodyPr/>
                    <a:lstStyle/>
                    <a:p>
                      <a:r>
                        <a:t>9615</a:t>
                      </a:r>
                    </a:p>
                  </a:txBody>
                  <a:tcPr/>
                </a:tc>
                <a:tc>
                  <a:txBody>
                    <a:bodyPr/>
                    <a:lstStyle/>
                    <a:p>
                      <a:r>
                        <a:t>3921</a:t>
                      </a:r>
                    </a:p>
                  </a:txBody>
                  <a:tcPr/>
                </a:tc>
              </a:tr>
            </a:tbl>
          </a:graphicData>
        </a:graphic>
      </p:graphicFrame>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58</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59</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kernel latency kernel workflow benchmark cluster workflow throughput histogram sample benchmark forecast outlier forecast benchmark network quantile forecast kernel benchmark analysis kernel throughput variance dataset latency kernel pipeline workflow sample regression quantile endpoint regression pipeline iteration gradient dataset latency forecast pipeline workflow iteration zone forecast analysis latency kernel throughput yield gradient forecast variance workflow network outlier regression latency cluster network yield dataset forecast endpoint quantile latency histogram analysis iteration network histogram pipeline iteration latency kernel throughput throughput analysis iteration workflow</a:t>
            </a:r>
          </a:p>
          <a:p>
            <a:pPr algn="l">
              <a:defRPr sz="1200"/>
            </a:pPr>
            <a:r>
              <a:t>matrix zone histogram benchmark yield dataset pipeline kernel forecast network yield regression zone kernel zone dataset workflow kernel matrix variance histogram histogram endpoint quantile endpoint pipeline variance matrix outlier zone sample quantile sample yield gradient histogram yield variance cluster regression pipeline regression zone matrix cluster throughput dataset benchmark sample regression gradient throughput sample endpoint forecast latency regression pipeline dataset yield</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60</a:t>
            </a:r>
          </a:p>
        </p:txBody>
      </p:sp>
      <p:sp>
        <p:nvSpPr>
          <p:cNvPr id="3" name="Content Placeholder 2"/>
          <p:cNvSpPr>
            <a:spLocks noGrp="1"/>
          </p:cNvSpPr>
          <p:nvPr>
            <p:ph idx="1"/>
          </p:nvPr>
        </p:nvSpPr>
        <p:spPr/>
        <p:txBody>
          <a:bodyPr/>
          <a:lstStyle/>
          <a:p>
            <a:pPr/>
            <a:r>
              <a:t>Point 1: gradient zone throughput quantile cluster regression pipeline benchmark</a:t>
            </a:r>
          </a:p>
          <a:p>
            <a:pPr lvl="1"/>
            <a:r>
              <a:t>Point 2: pipeline endpoint regression outlier pipeline throughput benchmark sample</a:t>
            </a:r>
          </a:p>
          <a:p>
            <a:pPr lvl="2"/>
            <a:r>
              <a:t>Point 3: pipeline yield kernel analysis network iteration analysis gradient</a:t>
            </a:r>
          </a:p>
          <a:p>
            <a:pPr/>
            <a:r>
              <a:t>Point 4: throughput cluster benchmark outlier matrix zone cluster sample</a:t>
            </a:r>
          </a:p>
          <a:p>
            <a:pPr lvl="1"/>
            <a:r>
              <a:t>Point 5: benchmark cluster quantile benchmark kernel outlier forecast endpoint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61</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62</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6136</a:t>
                      </a:r>
                    </a:p>
                  </a:txBody>
                  <a:tcPr/>
                </a:tc>
                <a:tc>
                  <a:txBody>
                    <a:bodyPr/>
                    <a:lstStyle/>
                    <a:p>
                      <a:r>
                        <a:t>6267</a:t>
                      </a:r>
                    </a:p>
                  </a:txBody>
                  <a:tcPr/>
                </a:tc>
                <a:tc>
                  <a:txBody>
                    <a:bodyPr/>
                    <a:lstStyle/>
                    <a:p>
                      <a:r>
                        <a:t>7349</a:t>
                      </a:r>
                    </a:p>
                  </a:txBody>
                  <a:tcPr/>
                </a:tc>
                <a:tc>
                  <a:txBody>
                    <a:bodyPr/>
                    <a:lstStyle/>
                    <a:p>
                      <a:r>
                        <a:t>6185</a:t>
                      </a:r>
                    </a:p>
                  </a:txBody>
                  <a:tcPr/>
                </a:tc>
                <a:tc>
                  <a:txBody>
                    <a:bodyPr/>
                    <a:lstStyle/>
                    <a:p>
                      <a:r>
                        <a:t>6155</a:t>
                      </a:r>
                    </a:p>
                  </a:txBody>
                  <a:tcPr/>
                </a:tc>
              </a:tr>
              <a:tr h="685800">
                <a:tc>
                  <a:txBody>
                    <a:bodyPr/>
                    <a:lstStyle/>
                    <a:p>
                      <a:r>
                        <a:t>1315</a:t>
                      </a:r>
                    </a:p>
                  </a:txBody>
                  <a:tcPr/>
                </a:tc>
                <a:tc>
                  <a:txBody>
                    <a:bodyPr/>
                    <a:lstStyle/>
                    <a:p>
                      <a:r>
                        <a:t>8836</a:t>
                      </a:r>
                    </a:p>
                  </a:txBody>
                  <a:tcPr/>
                </a:tc>
                <a:tc>
                  <a:txBody>
                    <a:bodyPr/>
                    <a:lstStyle/>
                    <a:p>
                      <a:r>
                        <a:t>2179</a:t>
                      </a:r>
                    </a:p>
                  </a:txBody>
                  <a:tcPr/>
                </a:tc>
                <a:tc>
                  <a:txBody>
                    <a:bodyPr/>
                    <a:lstStyle/>
                    <a:p>
                      <a:r>
                        <a:t>5698</a:t>
                      </a:r>
                    </a:p>
                  </a:txBody>
                  <a:tcPr/>
                </a:tc>
                <a:tc>
                  <a:txBody>
                    <a:bodyPr/>
                    <a:lstStyle/>
                    <a:p>
                      <a:r>
                        <a:t>1944</a:t>
                      </a:r>
                    </a:p>
                  </a:txBody>
                  <a:tcPr/>
                </a:tc>
              </a:tr>
              <a:tr h="685800">
                <a:tc>
                  <a:txBody>
                    <a:bodyPr/>
                    <a:lstStyle/>
                    <a:p>
                      <a:r>
                        <a:t>2925</a:t>
                      </a:r>
                    </a:p>
                  </a:txBody>
                  <a:tcPr/>
                </a:tc>
                <a:tc>
                  <a:txBody>
                    <a:bodyPr/>
                    <a:lstStyle/>
                    <a:p>
                      <a:r>
                        <a:t>8803</a:t>
                      </a:r>
                    </a:p>
                  </a:txBody>
                  <a:tcPr/>
                </a:tc>
                <a:tc>
                  <a:txBody>
                    <a:bodyPr/>
                    <a:lstStyle/>
                    <a:p>
                      <a:r>
                        <a:t>6440</a:t>
                      </a:r>
                    </a:p>
                  </a:txBody>
                  <a:tcPr/>
                </a:tc>
                <a:tc>
                  <a:txBody>
                    <a:bodyPr/>
                    <a:lstStyle/>
                    <a:p>
                      <a:r>
                        <a:t>8665</a:t>
                      </a:r>
                    </a:p>
                  </a:txBody>
                  <a:tcPr/>
                </a:tc>
                <a:tc>
                  <a:txBody>
                    <a:bodyPr/>
                    <a:lstStyle/>
                    <a:p>
                      <a:r>
                        <a:t>2087</a:t>
                      </a:r>
                    </a:p>
                  </a:txBody>
                  <a:tcPr/>
                </a:tc>
              </a:tr>
              <a:tr h="685800">
                <a:tc>
                  <a:txBody>
                    <a:bodyPr/>
                    <a:lstStyle/>
                    <a:p>
                      <a:r>
                        <a:t>3649</a:t>
                      </a:r>
                    </a:p>
                  </a:txBody>
                  <a:tcPr/>
                </a:tc>
                <a:tc>
                  <a:txBody>
                    <a:bodyPr/>
                    <a:lstStyle/>
                    <a:p>
                      <a:r>
                        <a:t>0057</a:t>
                      </a:r>
                    </a:p>
                  </a:txBody>
                  <a:tcPr/>
                </a:tc>
                <a:tc>
                  <a:txBody>
                    <a:bodyPr/>
                    <a:lstStyle/>
                    <a:p>
                      <a:r>
                        <a:t>0373</a:t>
                      </a:r>
                    </a:p>
                  </a:txBody>
                  <a:tcPr/>
                </a:tc>
                <a:tc>
                  <a:txBody>
                    <a:bodyPr/>
                    <a:lstStyle/>
                    <a:p>
                      <a:r>
                        <a:t>4889</a:t>
                      </a:r>
                    </a:p>
                  </a:txBody>
                  <a:tcPr/>
                </a:tc>
                <a:tc>
                  <a:txBody>
                    <a:bodyPr/>
                    <a:lstStyle/>
                    <a:p>
                      <a:r>
                        <a:t>7586</a:t>
                      </a:r>
                    </a:p>
                  </a:txBody>
                  <a:tcPr/>
                </a:tc>
              </a:tr>
              <a:tr h="685800">
                <a:tc>
                  <a:txBody>
                    <a:bodyPr/>
                    <a:lstStyle/>
                    <a:p>
                      <a:r>
                        <a:t>8921</a:t>
                      </a:r>
                    </a:p>
                  </a:txBody>
                  <a:tcPr/>
                </a:tc>
                <a:tc>
                  <a:txBody>
                    <a:bodyPr/>
                    <a:lstStyle/>
                    <a:p>
                      <a:r>
                        <a:t>6949</a:t>
                      </a:r>
                    </a:p>
                  </a:txBody>
                  <a:tcPr/>
                </a:tc>
                <a:tc>
                  <a:txBody>
                    <a:bodyPr/>
                    <a:lstStyle/>
                    <a:p>
                      <a:r>
                        <a:t>8716</a:t>
                      </a:r>
                    </a:p>
                  </a:txBody>
                  <a:tcPr/>
                </a:tc>
                <a:tc>
                  <a:txBody>
                    <a:bodyPr/>
                    <a:lstStyle/>
                    <a:p>
                      <a:r>
                        <a:t>6215</a:t>
                      </a:r>
                    </a:p>
                  </a:txBody>
                  <a:tcPr/>
                </a:tc>
                <a:tc>
                  <a:txBody>
                    <a:bodyPr/>
                    <a:lstStyle/>
                    <a:p>
                      <a:r>
                        <a:t>3763</a:t>
                      </a:r>
                    </a:p>
                  </a:txBody>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63</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64</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benchmark network pipeline histogram sample gradient benchmark endpoint regression kernel histogram throughput latency throughput variance yield latency histogram kernel endpoint yield regression histogram outlier kernel iteration benchmark sample throughput forecast workflow yield outlier sample quantile benchmark matrix workflow yield network regression latency zone outlier outlier endpoint kernel network forecast sample quantile histogram histogram kernel zone endpoint pipeline benchmark sample outlier outlier sample regression endpoint network histogram iteration gradient latency workflow cluster pipeline matrix cluster sample gradient benchmark iteration network yield</a:t>
            </a:r>
          </a:p>
          <a:p>
            <a:pPr algn="l">
              <a:defRPr sz="1200"/>
            </a:pPr>
            <a:r>
              <a:t>variance variance benchmark cluster gradient throughput yield sample gradient quantile gradient latency kernel analysis gradient gradient dataset quantile histogram zone variance zone gradient network histogram sample latency kernel network pipeline sample workflow matrix kernel iteration matrix regression quantile pipeline dataset quantile latency gradient matrix latency outlier benchmark throughput histogram endpoint analysis iteration sample throughput throughput outlier kernel endpoint gradient latency</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 65</a:t>
            </a:r>
          </a:p>
        </p:txBody>
      </p:sp>
      <p:sp>
        <p:nvSpPr>
          <p:cNvPr id="3" name="Content Placeholder 2"/>
          <p:cNvSpPr>
            <a:spLocks noGrp="1"/>
          </p:cNvSpPr>
          <p:nvPr>
            <p:ph idx="1"/>
          </p:nvPr>
        </p:nvSpPr>
        <p:spPr/>
        <p:txBody>
          <a:bodyPr/>
          <a:lstStyle/>
          <a:p>
            <a:pPr/>
            <a:r>
              <a:t>Point 1: histogram network throughput histogram quantile sample workflow yield</a:t>
            </a:r>
          </a:p>
          <a:p>
            <a:pPr lvl="1"/>
            <a:r>
              <a:t>Point 2: latency iteration quantile workflow quantile pipeline forecast matrix</a:t>
            </a:r>
          </a:p>
          <a:p>
            <a:pPr lvl="2"/>
            <a:r>
              <a:t>Point 3: forecast endpoint sample quantile forecast sample workflow benchmark</a:t>
            </a:r>
          </a:p>
          <a:p>
            <a:pPr/>
            <a:r>
              <a:t>Point 4: regression benchmark cluster yield benchmark analysis outlier endpoint</a:t>
            </a:r>
          </a:p>
          <a:p>
            <a:pPr lvl="1"/>
            <a:r>
              <a:t>Point 5: workflow histogram cluster zone endpoint analysis gradient regression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Diagram 66</a:t>
            </a:r>
          </a:p>
        </p:txBody>
      </p:sp>
      <p:pic>
        <p:nvPicPr>
          <p:cNvPr id="3" name="Picture 2" descr="image.png"/>
          <p:cNvPicPr>
            <a:picLocks noChangeAspect="1"/>
          </p:cNvPicPr>
          <p:nvPr/>
        </p:nvPicPr>
        <p:blipFill>
          <a:blip r:embed="rId2"/>
          <a:stretch>
            <a:fillRect/>
          </a:stretch>
        </p:blipFill>
        <p:spPr>
          <a:xfrm>
            <a:off x="914400" y="1371600"/>
            <a:ext cx="7315200" cy="4114800"/>
          </a:xfrm>
          <a:prstGeom prst="rect">
            <a:avLst/>
          </a:prstGeom>
        </p:spPr>
      </p:pic>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Metrics 67</a:t>
            </a:r>
          </a:p>
        </p:txBody>
      </p:sp>
      <p:graphicFrame>
        <p:nvGraphicFramePr>
          <p:cNvPr id="3" name="Table 2"/>
          <p:cNvGraphicFramePr>
            <a:graphicFrameLocks noGrp="1"/>
          </p:cNvGraphicFramePr>
          <p:nvPr/>
        </p:nvGraphicFramePr>
        <p:xfrm>
          <a:off x="731520" y="1463040"/>
          <a:ext cx="7680960" cy="4114800"/>
        </p:xfrm>
        <a:graphic>
          <a:graphicData uri="http://schemas.openxmlformats.org/drawingml/2006/table">
            <a:tbl>
              <a:tblPr firstRow="1" bandRow="1">
                <a:tableStyleId>{5C22544A-7EE6-4342-B048-85BDC9FD1C3A}</a:tableStyleId>
              </a:tblPr>
              <a:tblGrid>
                <a:gridCol w="1536192"/>
                <a:gridCol w="1536192"/>
                <a:gridCol w="1536192"/>
                <a:gridCol w="1536192"/>
                <a:gridCol w="1536192"/>
              </a:tblGrid>
              <a:tr h="685800">
                <a:tc>
                  <a:txBody>
                    <a:bodyPr/>
                    <a:lstStyle/>
                    <a:p>
                      <a:r>
                        <a:t>Col 1</a:t>
                      </a:r>
                    </a:p>
                  </a:txBody>
                  <a:tcPr/>
                </a:tc>
                <a:tc>
                  <a:txBody>
                    <a:bodyPr/>
                    <a:lstStyle/>
                    <a:p>
                      <a:r>
                        <a:t>Col 2</a:t>
                      </a:r>
                    </a:p>
                  </a:txBody>
                  <a:tcPr/>
                </a:tc>
                <a:tc>
                  <a:txBody>
                    <a:bodyPr/>
                    <a:lstStyle/>
                    <a:p>
                      <a:r>
                        <a:t>Col 3</a:t>
                      </a:r>
                    </a:p>
                  </a:txBody>
                  <a:tcPr/>
                </a:tc>
                <a:tc>
                  <a:txBody>
                    <a:bodyPr/>
                    <a:lstStyle/>
                    <a:p>
                      <a:r>
                        <a:t>Col 4</a:t>
                      </a:r>
                    </a:p>
                  </a:txBody>
                  <a:tcPr/>
                </a:tc>
                <a:tc>
                  <a:txBody>
                    <a:bodyPr/>
                    <a:lstStyle/>
                    <a:p>
                      <a:r>
                        <a:t>Col 5</a:t>
                      </a:r>
                    </a:p>
                  </a:txBody>
                  <a:tcPr/>
                </a:tc>
              </a:tr>
              <a:tr h="685800">
                <a:tc>
                  <a:txBody>
                    <a:bodyPr/>
                    <a:lstStyle/>
                    <a:p>
                      <a:r>
                        <a:t>6115</a:t>
                      </a:r>
                    </a:p>
                  </a:txBody>
                  <a:tcPr/>
                </a:tc>
                <a:tc>
                  <a:txBody>
                    <a:bodyPr/>
                    <a:lstStyle/>
                    <a:p>
                      <a:r>
                        <a:t>0991</a:t>
                      </a:r>
                    </a:p>
                  </a:txBody>
                  <a:tcPr/>
                </a:tc>
                <a:tc>
                  <a:txBody>
                    <a:bodyPr/>
                    <a:lstStyle/>
                    <a:p>
                      <a:r>
                        <a:t>7917</a:t>
                      </a:r>
                    </a:p>
                  </a:txBody>
                  <a:tcPr/>
                </a:tc>
                <a:tc>
                  <a:txBody>
                    <a:bodyPr/>
                    <a:lstStyle/>
                    <a:p>
                      <a:r>
                        <a:t>7994</a:t>
                      </a:r>
                    </a:p>
                  </a:txBody>
                  <a:tcPr/>
                </a:tc>
                <a:tc>
                  <a:txBody>
                    <a:bodyPr/>
                    <a:lstStyle/>
                    <a:p>
                      <a:r>
                        <a:t>0258</a:t>
                      </a:r>
                    </a:p>
                  </a:txBody>
                  <a:tcPr/>
                </a:tc>
              </a:tr>
              <a:tr h="685800">
                <a:tc>
                  <a:txBody>
                    <a:bodyPr/>
                    <a:lstStyle/>
                    <a:p>
                      <a:r>
                        <a:t>0109</a:t>
                      </a:r>
                    </a:p>
                  </a:txBody>
                  <a:tcPr/>
                </a:tc>
                <a:tc>
                  <a:txBody>
                    <a:bodyPr/>
                    <a:lstStyle/>
                    <a:p>
                      <a:r>
                        <a:t>8720</a:t>
                      </a:r>
                    </a:p>
                  </a:txBody>
                  <a:tcPr/>
                </a:tc>
                <a:tc>
                  <a:txBody>
                    <a:bodyPr/>
                    <a:lstStyle/>
                    <a:p>
                      <a:r>
                        <a:t>9039</a:t>
                      </a:r>
                    </a:p>
                  </a:txBody>
                  <a:tcPr/>
                </a:tc>
                <a:tc>
                  <a:txBody>
                    <a:bodyPr/>
                    <a:lstStyle/>
                    <a:p>
                      <a:r>
                        <a:t>6740</a:t>
                      </a:r>
                    </a:p>
                  </a:txBody>
                  <a:tcPr/>
                </a:tc>
                <a:tc>
                  <a:txBody>
                    <a:bodyPr/>
                    <a:lstStyle/>
                    <a:p>
                      <a:r>
                        <a:t>0195</a:t>
                      </a:r>
                    </a:p>
                  </a:txBody>
                  <a:tcPr/>
                </a:tc>
              </a:tr>
              <a:tr h="685800">
                <a:tc>
                  <a:txBody>
                    <a:bodyPr/>
                    <a:lstStyle/>
                    <a:p>
                      <a:r>
                        <a:t>0275</a:t>
                      </a:r>
                    </a:p>
                  </a:txBody>
                  <a:tcPr/>
                </a:tc>
                <a:tc>
                  <a:txBody>
                    <a:bodyPr/>
                    <a:lstStyle/>
                    <a:p>
                      <a:r>
                        <a:t>8674</a:t>
                      </a:r>
                    </a:p>
                  </a:txBody>
                  <a:tcPr/>
                </a:tc>
                <a:tc>
                  <a:txBody>
                    <a:bodyPr/>
                    <a:lstStyle/>
                    <a:p>
                      <a:r>
                        <a:t>4502</a:t>
                      </a:r>
                    </a:p>
                  </a:txBody>
                  <a:tcPr/>
                </a:tc>
                <a:tc>
                  <a:txBody>
                    <a:bodyPr/>
                    <a:lstStyle/>
                    <a:p>
                      <a:r>
                        <a:t>8778</a:t>
                      </a:r>
                    </a:p>
                  </a:txBody>
                  <a:tcPr/>
                </a:tc>
                <a:tc>
                  <a:txBody>
                    <a:bodyPr/>
                    <a:lstStyle/>
                    <a:p>
                      <a:r>
                        <a:t>4698</a:t>
                      </a:r>
                    </a:p>
                  </a:txBody>
                  <a:tcPr/>
                </a:tc>
              </a:tr>
              <a:tr h="685800">
                <a:tc>
                  <a:txBody>
                    <a:bodyPr/>
                    <a:lstStyle/>
                    <a:p>
                      <a:r>
                        <a:t>0281</a:t>
                      </a:r>
                    </a:p>
                  </a:txBody>
                  <a:tcPr/>
                </a:tc>
                <a:tc>
                  <a:txBody>
                    <a:bodyPr/>
                    <a:lstStyle/>
                    <a:p>
                      <a:r>
                        <a:t>8229</a:t>
                      </a:r>
                    </a:p>
                  </a:txBody>
                  <a:tcPr/>
                </a:tc>
                <a:tc>
                  <a:txBody>
                    <a:bodyPr/>
                    <a:lstStyle/>
                    <a:p>
                      <a:r>
                        <a:t>7055</a:t>
                      </a:r>
                    </a:p>
                  </a:txBody>
                  <a:tcPr/>
                </a:tc>
                <a:tc>
                  <a:txBody>
                    <a:bodyPr/>
                    <a:lstStyle/>
                    <a:p>
                      <a:r>
                        <a:t>2938</a:t>
                      </a:r>
                    </a:p>
                  </a:txBody>
                  <a:tcPr/>
                </a:tc>
                <a:tc>
                  <a:txBody>
                    <a:bodyPr/>
                    <a:lstStyle/>
                    <a:p>
                      <a:r>
                        <a:t>1754</a:t>
                      </a:r>
                    </a:p>
                  </a:txBody>
                  <a:tcPr/>
                </a:tc>
              </a:tr>
              <a:tr h="685800">
                <a:tc>
                  <a:txBody>
                    <a:bodyPr/>
                    <a:lstStyle/>
                    <a:p>
                      <a:r>
                        <a:t>1579</a:t>
                      </a:r>
                    </a:p>
                  </a:txBody>
                  <a:tcPr/>
                </a:tc>
                <a:tc>
                  <a:txBody>
                    <a:bodyPr/>
                    <a:lstStyle/>
                    <a:p>
                      <a:r>
                        <a:t>8592</a:t>
                      </a:r>
                    </a:p>
                  </a:txBody>
                  <a:tcPr/>
                </a:tc>
                <a:tc>
                  <a:txBody>
                    <a:bodyPr/>
                    <a:lstStyle/>
                    <a:p>
                      <a:r>
                        <a:t>2440</a:t>
                      </a:r>
                    </a:p>
                  </a:txBody>
                  <a:tcPr/>
                </a:tc>
                <a:tc>
                  <a:txBody>
                    <a:bodyPr/>
                    <a:lstStyle/>
                    <a:p>
                      <a:r>
                        <a:t>3949</a:t>
                      </a:r>
                    </a:p>
                  </a:txBody>
                  <a:tcPr/>
                </a:tc>
                <a:tc>
                  <a:txBody>
                    <a:bodyPr/>
                    <a:lstStyle/>
                    <a:p>
                      <a:r>
                        <a:t>3145</a:t>
                      </a:r>
                    </a:p>
                  </a:txBody>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Trend 68</a:t>
            </a:r>
          </a:p>
        </p:txBody>
      </p:sp>
      <p:graphicFrame>
        <p:nvGraphicFramePr>
          <p:cNvPr id="3" name="Chart 2"/>
          <p:cNvGraphicFramePr>
            <a:graphicFrameLocks noGrp="1"/>
          </p:cNvGraphicFramePr>
          <p:nvPr/>
        </p:nvGraphicFramePr>
        <p:xfrm>
          <a:off x="914400" y="1371600"/>
          <a:ext cx="7315200" cy="4389120"/>
        </p:xfrm>
        <a:graphic>
          <a:graphicData uri="http://schemas.openxmlformats.org/drawingml/2006/chart">
            <c:chart xmlns:c="http://schemas.openxmlformats.org/drawingml/2006/chart" r:id="rId2"/>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Notes 69</a:t>
            </a:r>
          </a:p>
        </p:txBody>
      </p:sp>
      <p:sp>
        <p:nvSpPr>
          <p:cNvPr id="3" name="TextBox 2"/>
          <p:cNvSpPr txBox="1"/>
          <p:nvPr/>
        </p:nvSpPr>
        <p:spPr>
          <a:xfrm>
            <a:off x="731520" y="1280160"/>
            <a:ext cx="7680960" cy="4572000"/>
          </a:xfrm>
          <a:prstGeom prst="rect">
            <a:avLst/>
          </a:prstGeom>
          <a:noFill/>
        </p:spPr>
        <p:txBody>
          <a:bodyPr wrap="square">
            <a:spAutoFit/>
          </a:bodyPr>
          <a:lstStyle/>
          <a:p>
            <a:pPr algn="just">
              <a:defRPr sz="1400"/>
            </a:pPr>
            <a:r>
              <a:t>sample quantile benchmark workflow analysis zone forecast cluster quantile outlier workflow latency throughput dataset regression benchmark histogram gradient zone throughput quantile iteration benchmark cluster yield iteration sample throughput yield benchmark forecast latency analysis gradient throughput endpoint zone network cluster kernel forecast throughput histogram throughput network yield sample latency network endpoint zone cluster regression matrix benchmark dataset outlier histogram cluster latency variance variance variance network latency analysis workflow iteration pipeline quantile histogram matrix sample network outlier forecast yield throughput yield network</a:t>
            </a:r>
          </a:p>
          <a:p>
            <a:pPr algn="l">
              <a:defRPr sz="1200"/>
            </a:pPr>
            <a:r>
              <a:t>cluster variance kernel histogram zone cluster cluster iteration endpoint network zone workflow endpoint network latency matrix dataset cluster analysis kernel pipeline matrix iteration dataset endpoint cluster forecast outlier pipeline sample sample regression outlier dataset analysis cluster matrix sample cluster variance variance latency network analysis kernel outlier network cluster sample histogram throughput regression forecast yield network forecast endpoint iteration kernel iteration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